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0786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872978"/>
            <a:ext cx="7556421" cy="1417558"/>
          </a:xfrm>
          <a:prstGeom prst="rect">
            <a:avLst/>
          </a:prstGeom>
          <a:noFill/>
          <a:ln/>
        </p:spPr>
        <p:txBody>
          <a:bodyPr wrap="square" lIns="0" tIns="0" rIns="0" bIns="0" rtlCol="0" anchor="t"/>
          <a:lstStyle/>
          <a:p>
            <a:pPr marL="0" indent="0" algn="l">
              <a:lnSpc>
                <a:spcPts val="5550"/>
              </a:lnSpc>
              <a:buNone/>
            </a:pPr>
            <a:r>
              <a:rPr lang="en-US" sz="4400" b="1" dirty="0">
                <a:solidFill>
                  <a:srgbClr val="373B48"/>
                </a:solidFill>
                <a:latin typeface="Mona Sans Semi Bold" pitchFamily="34" charset="0"/>
                <a:ea typeface="Mona Sans Semi Bold" pitchFamily="34" charset="-122"/>
                <a:cs typeface="Mona Sans Semi Bold" pitchFamily="34" charset="-120"/>
              </a:rPr>
              <a:t>GeoIntelli AI: LLM-Driven Landsat 8 Satellite Analysis</a:t>
            </a:r>
            <a:endParaRPr lang="en-US" sz="4400" b="1" dirty="0"/>
          </a:p>
        </p:txBody>
      </p:sp>
      <p:sp>
        <p:nvSpPr>
          <p:cNvPr id="4" name="Text 1"/>
          <p:cNvSpPr/>
          <p:nvPr/>
        </p:nvSpPr>
        <p:spPr>
          <a:xfrm>
            <a:off x="793790" y="463069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Revolutionising Earth observation through artificial intelligence and satellite imagery</a:t>
            </a:r>
            <a:endParaRPr lang="en-US" sz="1750" dirty="0"/>
          </a:p>
        </p:txBody>
      </p:sp>
      <p:sp>
        <p:nvSpPr>
          <p:cNvPr id="5" name="TextBox 4">
            <a:extLst>
              <a:ext uri="{FF2B5EF4-FFF2-40B4-BE49-F238E27FC236}">
                <a16:creationId xmlns:a16="http://schemas.microsoft.com/office/drawing/2014/main" id="{84C14B3B-2F7C-4AB9-92AF-C4128BB0111A}"/>
              </a:ext>
            </a:extLst>
          </p:cNvPr>
          <p:cNvSpPr txBox="1"/>
          <p:nvPr/>
        </p:nvSpPr>
        <p:spPr>
          <a:xfrm>
            <a:off x="5884433" y="6347012"/>
            <a:ext cx="2678655" cy="1200329"/>
          </a:xfrm>
          <a:prstGeom prst="rect">
            <a:avLst/>
          </a:prstGeom>
          <a:noFill/>
        </p:spPr>
        <p:txBody>
          <a:bodyPr wrap="square" rtlCol="0">
            <a:spAutoFit/>
          </a:bodyPr>
          <a:lstStyle/>
          <a:p>
            <a:r>
              <a:rPr lang="en-IN" dirty="0"/>
              <a:t>Done by:</a:t>
            </a:r>
          </a:p>
          <a:p>
            <a:r>
              <a:rPr lang="en-IN" dirty="0"/>
              <a:t>2310030328:V.Lavanya</a:t>
            </a:r>
          </a:p>
          <a:p>
            <a:r>
              <a:rPr lang="en-IN" dirty="0"/>
              <a:t>2310030149:S.Sadavika</a:t>
            </a:r>
          </a:p>
          <a:p>
            <a:r>
              <a:rPr lang="en-IN" dirty="0"/>
              <a:t>2310030185:S.Jeevana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20854"/>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Abstract &amp; Introduction: Unlocking Earth's Secrets with AI</a:t>
            </a:r>
            <a:endParaRPr lang="en-US" sz="4450" dirty="0"/>
          </a:p>
        </p:txBody>
      </p:sp>
      <p:sp>
        <p:nvSpPr>
          <p:cNvPr id="4" name="Text 1"/>
          <p:cNvSpPr/>
          <p:nvPr/>
        </p:nvSpPr>
        <p:spPr>
          <a:xfrm>
            <a:off x="793790" y="358735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GeoIntelli AI represents a paradigm shift in geospatial analysis, integrating </a:t>
            </a:r>
            <a:r>
              <a:rPr lang="en-US" sz="1750" b="1" dirty="0">
                <a:solidFill>
                  <a:srgbClr val="52586B"/>
                </a:solidFill>
                <a:latin typeface="Funnel Sans" pitchFamily="34" charset="0"/>
                <a:ea typeface="Funnel Sans" pitchFamily="34" charset="-122"/>
                <a:cs typeface="Funnel Sans" pitchFamily="34" charset="-120"/>
              </a:rPr>
              <a:t>Large Language Models (LLMs)</a:t>
            </a:r>
            <a:r>
              <a:rPr lang="en-US" sz="1750" dirty="0">
                <a:solidFill>
                  <a:srgbClr val="52586B"/>
                </a:solidFill>
                <a:latin typeface="Funnel Sans" pitchFamily="34" charset="0"/>
                <a:ea typeface="Funnel Sans" pitchFamily="34" charset="-122"/>
                <a:cs typeface="Funnel Sans" pitchFamily="34" charset="-120"/>
              </a:rPr>
              <a:t> with </a:t>
            </a:r>
            <a:r>
              <a:rPr lang="en-US" sz="1750" b="1" dirty="0">
                <a:solidFill>
                  <a:srgbClr val="52586B"/>
                </a:solidFill>
                <a:latin typeface="Funnel Sans" pitchFamily="34" charset="0"/>
                <a:ea typeface="Funnel Sans" pitchFamily="34" charset="-122"/>
                <a:cs typeface="Funnel Sans" pitchFamily="34" charset="-120"/>
              </a:rPr>
              <a:t>Landsat 8 satellite data</a:t>
            </a:r>
            <a:r>
              <a:rPr lang="en-US" sz="1750" dirty="0">
                <a:solidFill>
                  <a:srgbClr val="52586B"/>
                </a:solidFill>
                <a:latin typeface="Funnel Sans" pitchFamily="34" charset="0"/>
                <a:ea typeface="Funnel Sans" pitchFamily="34" charset="-122"/>
                <a:cs typeface="Funnel Sans" pitchFamily="34" charset="-120"/>
              </a:rPr>
              <a:t> for advanced Earth observation. This groundbreaking project moves beyond traditional data analysis to provide actionable intelligence for land use planning and environmental monitoring.</a:t>
            </a:r>
            <a:endParaRPr lang="en-US" sz="1750" dirty="0"/>
          </a:p>
        </p:txBody>
      </p:sp>
      <p:sp>
        <p:nvSpPr>
          <p:cNvPr id="5" name="Text 2"/>
          <p:cNvSpPr/>
          <p:nvPr/>
        </p:nvSpPr>
        <p:spPr>
          <a:xfrm>
            <a:off x="793790" y="5657017"/>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The era of "Earth Intelligence for All" is dawning, transforming raw satellite data into meaningful knowledge that empowers decision-makers, researchers, and communities to address environmental challenges with unprecedented precision.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47869"/>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Chapter 2: Literature Survey - The Evolving Landscape of Geospatial AI</a:t>
            </a:r>
            <a:endParaRPr lang="en-US" sz="4450" dirty="0"/>
          </a:p>
        </p:txBody>
      </p:sp>
      <p:sp>
        <p:nvSpPr>
          <p:cNvPr id="3" name="Shape 1"/>
          <p:cNvSpPr/>
          <p:nvPr/>
        </p:nvSpPr>
        <p:spPr>
          <a:xfrm>
            <a:off x="793790" y="2919055"/>
            <a:ext cx="4196358" cy="4262557"/>
          </a:xfrm>
          <a:prstGeom prst="roundRect">
            <a:avLst>
              <a:gd name="adj" fmla="val 3486"/>
            </a:avLst>
          </a:prstGeom>
          <a:solidFill>
            <a:srgbClr val="FFFFFF">
              <a:alpha val="95000"/>
            </a:srgbClr>
          </a:solidFill>
          <a:ln w="30480">
            <a:solidFill>
              <a:srgbClr val="C8CACF"/>
            </a:solidFill>
            <a:prstDash val="solid"/>
          </a:ln>
        </p:spPr>
      </p:sp>
      <p:sp>
        <p:nvSpPr>
          <p:cNvPr id="4" name="Shape 2"/>
          <p:cNvSpPr/>
          <p:nvPr/>
        </p:nvSpPr>
        <p:spPr>
          <a:xfrm>
            <a:off x="763310" y="2919055"/>
            <a:ext cx="121920" cy="4262557"/>
          </a:xfrm>
          <a:prstGeom prst="roundRect">
            <a:avLst>
              <a:gd name="adj" fmla="val 78139"/>
            </a:avLst>
          </a:prstGeom>
          <a:solidFill>
            <a:srgbClr val="373B48"/>
          </a:solidFill>
          <a:ln/>
        </p:spPr>
      </p:sp>
      <p:sp>
        <p:nvSpPr>
          <p:cNvPr id="5" name="Text 3"/>
          <p:cNvSpPr/>
          <p:nvPr/>
        </p:nvSpPr>
        <p:spPr>
          <a:xfrm>
            <a:off x="1142524" y="3176349"/>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AI and Machine Learning on Satellite Data</a:t>
            </a:r>
            <a:endParaRPr lang="en-US" sz="2200" dirty="0"/>
          </a:p>
        </p:txBody>
      </p:sp>
      <p:sp>
        <p:nvSpPr>
          <p:cNvPr id="6" name="Text 4"/>
          <p:cNvSpPr/>
          <p:nvPr/>
        </p:nvSpPr>
        <p:spPr>
          <a:xfrm>
            <a:off x="1142524" y="4021098"/>
            <a:ext cx="3590330" cy="290322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 rapidly growing field where NASA and ESA are developing ML products for Earth observation. These systems analyse vast quantities of satellite imagery, identifying patterns and changes that would be impossible for humans to detect manually.</a:t>
            </a:r>
            <a:endParaRPr lang="en-US" sz="1750" dirty="0"/>
          </a:p>
        </p:txBody>
      </p:sp>
      <p:sp>
        <p:nvSpPr>
          <p:cNvPr id="7" name="Shape 5"/>
          <p:cNvSpPr/>
          <p:nvPr/>
        </p:nvSpPr>
        <p:spPr>
          <a:xfrm>
            <a:off x="5216962" y="2919055"/>
            <a:ext cx="4196358" cy="4262557"/>
          </a:xfrm>
          <a:prstGeom prst="roundRect">
            <a:avLst>
              <a:gd name="adj" fmla="val 3486"/>
            </a:avLst>
          </a:prstGeom>
          <a:solidFill>
            <a:srgbClr val="FFFFFF">
              <a:alpha val="95000"/>
            </a:srgbClr>
          </a:solidFill>
          <a:ln w="30480">
            <a:solidFill>
              <a:srgbClr val="C8CACF"/>
            </a:solidFill>
            <a:prstDash val="solid"/>
          </a:ln>
        </p:spPr>
      </p:sp>
      <p:sp>
        <p:nvSpPr>
          <p:cNvPr id="8" name="Shape 6"/>
          <p:cNvSpPr/>
          <p:nvPr/>
        </p:nvSpPr>
        <p:spPr>
          <a:xfrm>
            <a:off x="5186482" y="2919055"/>
            <a:ext cx="121920" cy="4262557"/>
          </a:xfrm>
          <a:prstGeom prst="roundRect">
            <a:avLst>
              <a:gd name="adj" fmla="val 78139"/>
            </a:avLst>
          </a:prstGeom>
          <a:solidFill>
            <a:srgbClr val="373B48"/>
          </a:solidFill>
          <a:ln/>
        </p:spPr>
      </p:sp>
      <p:sp>
        <p:nvSpPr>
          <p:cNvPr id="9" name="Text 7"/>
          <p:cNvSpPr/>
          <p:nvPr/>
        </p:nvSpPr>
        <p:spPr>
          <a:xfrm>
            <a:off x="5565696" y="31763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Land Cover Mapping</a:t>
            </a:r>
            <a:endParaRPr lang="en-US" sz="2200" dirty="0"/>
          </a:p>
        </p:txBody>
      </p:sp>
      <p:sp>
        <p:nvSpPr>
          <p:cNvPr id="10" name="Text 8"/>
          <p:cNvSpPr/>
          <p:nvPr/>
        </p:nvSpPr>
        <p:spPr>
          <a:xfrm>
            <a:off x="5565696" y="3666768"/>
            <a:ext cx="3590330" cy="290322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Global datasets like GlobeLand30 and FROM-GLC provide crucial baseline information for monitoring Sustainable Development Goals and informing evidence-based environmental policy at national and international levels.</a:t>
            </a:r>
            <a:endParaRPr lang="en-US" sz="1750" dirty="0"/>
          </a:p>
        </p:txBody>
      </p:sp>
      <p:sp>
        <p:nvSpPr>
          <p:cNvPr id="11" name="Shape 9"/>
          <p:cNvSpPr/>
          <p:nvPr/>
        </p:nvSpPr>
        <p:spPr>
          <a:xfrm>
            <a:off x="9640133" y="2919055"/>
            <a:ext cx="4196358" cy="4262557"/>
          </a:xfrm>
          <a:prstGeom prst="roundRect">
            <a:avLst>
              <a:gd name="adj" fmla="val 3486"/>
            </a:avLst>
          </a:prstGeom>
          <a:solidFill>
            <a:srgbClr val="FFFFFF">
              <a:alpha val="95000"/>
            </a:srgbClr>
          </a:solidFill>
          <a:ln w="30480">
            <a:solidFill>
              <a:srgbClr val="C8CACF"/>
            </a:solidFill>
            <a:prstDash val="solid"/>
          </a:ln>
        </p:spPr>
      </p:sp>
      <p:sp>
        <p:nvSpPr>
          <p:cNvPr id="12" name="Shape 10"/>
          <p:cNvSpPr/>
          <p:nvPr/>
        </p:nvSpPr>
        <p:spPr>
          <a:xfrm>
            <a:off x="9609653" y="2919055"/>
            <a:ext cx="121920" cy="4262557"/>
          </a:xfrm>
          <a:prstGeom prst="roundRect">
            <a:avLst>
              <a:gd name="adj" fmla="val 78139"/>
            </a:avLst>
          </a:prstGeom>
          <a:solidFill>
            <a:srgbClr val="373B48"/>
          </a:solidFill>
          <a:ln/>
        </p:spPr>
      </p:sp>
      <p:sp>
        <p:nvSpPr>
          <p:cNvPr id="13" name="Text 11"/>
          <p:cNvSpPr/>
          <p:nvPr/>
        </p:nvSpPr>
        <p:spPr>
          <a:xfrm>
            <a:off x="9988868" y="3176349"/>
            <a:ext cx="2991326"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Phenometric Analysis</a:t>
            </a:r>
            <a:endParaRPr lang="en-US" sz="2200" dirty="0"/>
          </a:p>
        </p:txBody>
      </p:sp>
      <p:sp>
        <p:nvSpPr>
          <p:cNvPr id="14" name="Text 12"/>
          <p:cNvSpPr/>
          <p:nvPr/>
        </p:nvSpPr>
        <p:spPr>
          <a:xfrm>
            <a:off x="9988868" y="3666768"/>
            <a:ext cx="3590330" cy="290322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Advanced models such as the Convex Quadratic (CxQ) link vegetation indices with accumulated growing degree-days, using Landsat data to produce detailed phenological profiles essential for agriculture and climate research.</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2228" y="606147"/>
            <a:ext cx="13265944" cy="1218248"/>
          </a:xfrm>
          <a:prstGeom prst="rect">
            <a:avLst/>
          </a:prstGeom>
          <a:noFill/>
          <a:ln/>
        </p:spPr>
        <p:txBody>
          <a:bodyPr wrap="square" lIns="0" tIns="0" rIns="0" bIns="0" rtlCol="0" anchor="t"/>
          <a:lstStyle/>
          <a:p>
            <a:pPr marL="0" indent="0" algn="l">
              <a:lnSpc>
                <a:spcPts val="4750"/>
              </a:lnSpc>
              <a:buNone/>
            </a:pPr>
            <a:r>
              <a:rPr lang="en-US" sz="3800" dirty="0">
                <a:solidFill>
                  <a:srgbClr val="373B48"/>
                </a:solidFill>
                <a:latin typeface="Mona Sans Semi Bold" pitchFamily="34" charset="0"/>
                <a:ea typeface="Mona Sans Semi Bold" pitchFamily="34" charset="-122"/>
                <a:cs typeface="Mona Sans Semi Bold" pitchFamily="34" charset="-120"/>
              </a:rPr>
              <a:t>Chapter 3: Materials &amp; Methodology - The GeoIntelli AI Toolkit</a:t>
            </a:r>
            <a:endParaRPr lang="en-US" sz="3800" dirty="0"/>
          </a:p>
        </p:txBody>
      </p:sp>
      <p:pic>
        <p:nvPicPr>
          <p:cNvPr id="3" name="Image 0" descr="preencoded.png"/>
          <p:cNvPicPr>
            <a:picLocks noChangeAspect="1"/>
          </p:cNvPicPr>
          <p:nvPr/>
        </p:nvPicPr>
        <p:blipFill>
          <a:blip r:embed="rId3"/>
          <a:stretch>
            <a:fillRect/>
          </a:stretch>
        </p:blipFill>
        <p:spPr>
          <a:xfrm>
            <a:off x="682228" y="2453521"/>
            <a:ext cx="8456414" cy="4791908"/>
          </a:xfrm>
          <a:prstGeom prst="rect">
            <a:avLst/>
          </a:prstGeom>
        </p:spPr>
      </p:pic>
      <p:sp>
        <p:nvSpPr>
          <p:cNvPr id="4" name="Text 1"/>
          <p:cNvSpPr/>
          <p:nvPr/>
        </p:nvSpPr>
        <p:spPr>
          <a:xfrm>
            <a:off x="9621798" y="2243018"/>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373B48"/>
                </a:solidFill>
                <a:latin typeface="Mona Sans Semi Bold" pitchFamily="34" charset="0"/>
                <a:ea typeface="Mona Sans Semi Bold" pitchFamily="34" charset="-122"/>
                <a:cs typeface="Mona Sans Semi Bold" pitchFamily="34" charset="-120"/>
              </a:rPr>
              <a:t>Data Foundation</a:t>
            </a:r>
            <a:endParaRPr lang="en-US" sz="1900" dirty="0"/>
          </a:p>
        </p:txBody>
      </p:sp>
      <p:sp>
        <p:nvSpPr>
          <p:cNvPr id="5" name="Text 2"/>
          <p:cNvSpPr/>
          <p:nvPr/>
        </p:nvSpPr>
        <p:spPr>
          <a:xfrm>
            <a:off x="9621798" y="2714982"/>
            <a:ext cx="4333875" cy="1159669"/>
          </a:xfrm>
          <a:prstGeom prst="rect">
            <a:avLst/>
          </a:prstGeom>
          <a:noFill/>
          <a:ln/>
        </p:spPr>
        <p:txBody>
          <a:bodyPr wrap="square" lIns="0" tIns="0" rIns="0" bIns="0" rtlCol="0" anchor="t"/>
          <a:lstStyle/>
          <a:p>
            <a:pPr marL="0" indent="0" algn="l">
              <a:lnSpc>
                <a:spcPts val="2250"/>
              </a:lnSpc>
              <a:buNone/>
            </a:pPr>
            <a:r>
              <a:rPr lang="en-US" sz="1500" dirty="0">
                <a:solidFill>
                  <a:srgbClr val="52586B"/>
                </a:solidFill>
                <a:latin typeface="Funnel Sans" pitchFamily="34" charset="0"/>
                <a:ea typeface="Funnel Sans" pitchFamily="34" charset="-122"/>
                <a:cs typeface="Funnel Sans" pitchFamily="34" charset="-120"/>
              </a:rPr>
              <a:t>Primarily </a:t>
            </a:r>
            <a:r>
              <a:rPr lang="en-US" sz="1500" b="1" dirty="0">
                <a:solidFill>
                  <a:srgbClr val="52586B"/>
                </a:solidFill>
                <a:latin typeface="Funnel Sans" pitchFamily="34" charset="0"/>
                <a:ea typeface="Funnel Sans" pitchFamily="34" charset="-122"/>
                <a:cs typeface="Funnel Sans" pitchFamily="34" charset="-120"/>
              </a:rPr>
              <a:t>Landsat 8 OLI surface reflectance</a:t>
            </a:r>
            <a:r>
              <a:rPr lang="en-US" sz="1500" dirty="0">
                <a:solidFill>
                  <a:srgbClr val="52586B"/>
                </a:solidFill>
                <a:latin typeface="Funnel Sans" pitchFamily="34" charset="0"/>
                <a:ea typeface="Funnel Sans" pitchFamily="34" charset="-122"/>
                <a:cs typeface="Funnel Sans" pitchFamily="34" charset="-120"/>
              </a:rPr>
              <a:t> data, providing consistent, calibrated imagery since 2013. Complemented by other high-resolution satellite sources when applicable.</a:t>
            </a:r>
            <a:endParaRPr lang="en-US" sz="1500" dirty="0"/>
          </a:p>
        </p:txBody>
      </p:sp>
      <p:sp>
        <p:nvSpPr>
          <p:cNvPr id="6" name="Text 3"/>
          <p:cNvSpPr/>
          <p:nvPr/>
        </p:nvSpPr>
        <p:spPr>
          <a:xfrm>
            <a:off x="9621798" y="4042053"/>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373B48"/>
                </a:solidFill>
                <a:latin typeface="Mona Sans Semi Bold" pitchFamily="34" charset="0"/>
                <a:ea typeface="Mona Sans Semi Bold" pitchFamily="34" charset="-122"/>
                <a:cs typeface="Mona Sans Semi Bold" pitchFamily="34" charset="-120"/>
              </a:rPr>
              <a:t>AI Integration</a:t>
            </a:r>
            <a:endParaRPr lang="en-US" sz="1900" dirty="0"/>
          </a:p>
        </p:txBody>
      </p:sp>
      <p:sp>
        <p:nvSpPr>
          <p:cNvPr id="7" name="Text 4"/>
          <p:cNvSpPr/>
          <p:nvPr/>
        </p:nvSpPr>
        <p:spPr>
          <a:xfrm>
            <a:off x="9621798" y="4514017"/>
            <a:ext cx="4333875" cy="1159669"/>
          </a:xfrm>
          <a:prstGeom prst="rect">
            <a:avLst/>
          </a:prstGeom>
          <a:noFill/>
          <a:ln/>
        </p:spPr>
        <p:txBody>
          <a:bodyPr wrap="square" lIns="0" tIns="0" rIns="0" bIns="0" rtlCol="0" anchor="t"/>
          <a:lstStyle/>
          <a:p>
            <a:pPr marL="0" indent="0" algn="l">
              <a:lnSpc>
                <a:spcPts val="2250"/>
              </a:lnSpc>
              <a:buNone/>
            </a:pPr>
            <a:r>
              <a:rPr lang="en-US" sz="1500" dirty="0">
                <a:solidFill>
                  <a:srgbClr val="52586B"/>
                </a:solidFill>
                <a:latin typeface="Funnel Sans" pitchFamily="34" charset="0"/>
                <a:ea typeface="Funnel Sans" pitchFamily="34" charset="-122"/>
                <a:cs typeface="Funnel Sans" pitchFamily="34" charset="-120"/>
              </a:rPr>
              <a:t>Leveraging </a:t>
            </a:r>
            <a:r>
              <a:rPr lang="en-US" sz="1500" b="1" dirty="0">
                <a:solidFill>
                  <a:srgbClr val="52586B"/>
                </a:solidFill>
                <a:latin typeface="Funnel Sans" pitchFamily="34" charset="0"/>
                <a:ea typeface="Funnel Sans" pitchFamily="34" charset="-122"/>
                <a:cs typeface="Funnel Sans" pitchFamily="34" charset="-120"/>
              </a:rPr>
              <a:t>Large Language Models</a:t>
            </a:r>
            <a:r>
              <a:rPr lang="en-US" sz="1500" dirty="0">
                <a:solidFill>
                  <a:srgbClr val="52586B"/>
                </a:solidFill>
                <a:latin typeface="Funnel Sans" pitchFamily="34" charset="0"/>
                <a:ea typeface="Funnel Sans" pitchFamily="34" charset="-122"/>
                <a:cs typeface="Funnel Sans" pitchFamily="34" charset="-120"/>
              </a:rPr>
              <a:t> for natural language processing of satellite data descriptions and guiding complex analysis workflows through conversational interfaces.</a:t>
            </a:r>
            <a:endParaRPr lang="en-US" sz="1500" dirty="0"/>
          </a:p>
        </p:txBody>
      </p:sp>
      <p:sp>
        <p:nvSpPr>
          <p:cNvPr id="8" name="Text 5"/>
          <p:cNvSpPr/>
          <p:nvPr/>
        </p:nvSpPr>
        <p:spPr>
          <a:xfrm>
            <a:off x="9621798" y="5841087"/>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373B48"/>
                </a:solidFill>
                <a:latin typeface="Mona Sans Semi Bold" pitchFamily="34" charset="0"/>
                <a:ea typeface="Mona Sans Semi Bold" pitchFamily="34" charset="-122"/>
                <a:cs typeface="Mona Sans Semi Bold" pitchFamily="34" charset="-120"/>
              </a:rPr>
              <a:t>Hybrid Methodology</a:t>
            </a:r>
            <a:endParaRPr lang="en-US" sz="1900" dirty="0"/>
          </a:p>
        </p:txBody>
      </p:sp>
      <p:sp>
        <p:nvSpPr>
          <p:cNvPr id="9" name="Text 6"/>
          <p:cNvSpPr/>
          <p:nvPr/>
        </p:nvSpPr>
        <p:spPr>
          <a:xfrm>
            <a:off x="9621798" y="6313051"/>
            <a:ext cx="4333875" cy="1159669"/>
          </a:xfrm>
          <a:prstGeom prst="rect">
            <a:avLst/>
          </a:prstGeom>
          <a:noFill/>
          <a:ln/>
        </p:spPr>
        <p:txBody>
          <a:bodyPr wrap="square" lIns="0" tIns="0" rIns="0" bIns="0" rtlCol="0" anchor="t"/>
          <a:lstStyle/>
          <a:p>
            <a:pPr marL="0" indent="0" algn="l">
              <a:lnSpc>
                <a:spcPts val="2250"/>
              </a:lnSpc>
              <a:buNone/>
            </a:pPr>
            <a:r>
              <a:rPr lang="en-US" sz="1500" dirty="0">
                <a:solidFill>
                  <a:srgbClr val="52586B"/>
                </a:solidFill>
                <a:latin typeface="Funnel Sans" pitchFamily="34" charset="0"/>
                <a:ea typeface="Funnel Sans" pitchFamily="34" charset="-122"/>
                <a:cs typeface="Funnel Sans" pitchFamily="34" charset="-120"/>
              </a:rPr>
              <a:t>Combining traditional remote sensing techniques with advanced AI for change detection, classification, and feature extraction from multispectral imagery.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6993" y="560784"/>
            <a:ext cx="7730014" cy="1262539"/>
          </a:xfrm>
          <a:prstGeom prst="rect">
            <a:avLst/>
          </a:prstGeom>
          <a:noFill/>
          <a:ln/>
        </p:spPr>
        <p:txBody>
          <a:bodyPr wrap="square" lIns="0" tIns="0" rIns="0" bIns="0" rtlCol="0" anchor="t"/>
          <a:lstStyle/>
          <a:p>
            <a:pPr marL="0" indent="0" algn="l">
              <a:lnSpc>
                <a:spcPts val="4950"/>
              </a:lnSpc>
              <a:buNone/>
            </a:pPr>
            <a:r>
              <a:rPr lang="en-US" sz="3950" dirty="0">
                <a:solidFill>
                  <a:srgbClr val="373B48"/>
                </a:solidFill>
                <a:latin typeface="Mona Sans Semi Bold" pitchFamily="34" charset="0"/>
                <a:ea typeface="Mona Sans Semi Bold" pitchFamily="34" charset="-122"/>
                <a:cs typeface="Mona Sans Semi Bold" pitchFamily="34" charset="-120"/>
              </a:rPr>
              <a:t>Chapter 4: Analysis - Deriving Insights from Satellite Imagery</a:t>
            </a:r>
            <a:endParaRPr lang="en-US" sz="3950" dirty="0"/>
          </a:p>
        </p:txBody>
      </p:sp>
      <p:sp>
        <p:nvSpPr>
          <p:cNvPr id="4" name="Shape 1"/>
          <p:cNvSpPr/>
          <p:nvPr/>
        </p:nvSpPr>
        <p:spPr>
          <a:xfrm>
            <a:off x="706993" y="2093119"/>
            <a:ext cx="7730014" cy="2850594"/>
          </a:xfrm>
          <a:prstGeom prst="roundRect">
            <a:avLst>
              <a:gd name="adj" fmla="val 2976"/>
            </a:avLst>
          </a:prstGeom>
          <a:solidFill>
            <a:srgbClr val="E2E4E9"/>
          </a:solidFill>
          <a:ln w="7620">
            <a:solidFill>
              <a:srgbClr val="C8CACF"/>
            </a:solidFill>
            <a:prstDash val="solid"/>
          </a:ln>
        </p:spPr>
      </p:sp>
      <p:sp>
        <p:nvSpPr>
          <p:cNvPr id="5" name="Shape 2"/>
          <p:cNvSpPr/>
          <p:nvPr/>
        </p:nvSpPr>
        <p:spPr>
          <a:xfrm>
            <a:off x="916543" y="2302669"/>
            <a:ext cx="606028" cy="606028"/>
          </a:xfrm>
          <a:prstGeom prst="roundRect">
            <a:avLst>
              <a:gd name="adj" fmla="val 15086903"/>
            </a:avLst>
          </a:prstGeom>
          <a:solidFill>
            <a:srgbClr val="373B48"/>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3231" y="2469237"/>
            <a:ext cx="272653" cy="272653"/>
          </a:xfrm>
          <a:prstGeom prst="rect">
            <a:avLst/>
          </a:prstGeom>
        </p:spPr>
      </p:pic>
      <p:sp>
        <p:nvSpPr>
          <p:cNvPr id="7" name="Text 3"/>
          <p:cNvSpPr/>
          <p:nvPr/>
        </p:nvSpPr>
        <p:spPr>
          <a:xfrm>
            <a:off x="916543" y="3088600"/>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52586B"/>
                </a:solidFill>
                <a:latin typeface="Mona Sans Semi Bold" pitchFamily="34" charset="0"/>
                <a:ea typeface="Mona Sans Semi Bold" pitchFamily="34" charset="-122"/>
                <a:cs typeface="Mona Sans Semi Bold" pitchFamily="34" charset="-120"/>
              </a:rPr>
              <a:t>Change Detection</a:t>
            </a:r>
            <a:endParaRPr lang="en-US" sz="1950" dirty="0"/>
          </a:p>
        </p:txBody>
      </p:sp>
      <p:sp>
        <p:nvSpPr>
          <p:cNvPr id="8" name="Text 4"/>
          <p:cNvSpPr/>
          <p:nvPr/>
        </p:nvSpPr>
        <p:spPr>
          <a:xfrm>
            <a:off x="916543" y="3512106"/>
            <a:ext cx="7310914" cy="1222058"/>
          </a:xfrm>
          <a:prstGeom prst="rect">
            <a:avLst/>
          </a:prstGeom>
          <a:noFill/>
          <a:ln/>
        </p:spPr>
        <p:txBody>
          <a:bodyPr wrap="square" lIns="0" tIns="0" rIns="0" bIns="0" rtlCol="0" anchor="t"/>
          <a:lstStyle/>
          <a:p>
            <a:pPr marL="0" indent="0" algn="l">
              <a:lnSpc>
                <a:spcPts val="2400"/>
              </a:lnSpc>
              <a:buNone/>
            </a:pPr>
            <a:r>
              <a:rPr lang="en-US" sz="1550" dirty="0">
                <a:solidFill>
                  <a:srgbClr val="52586B"/>
                </a:solidFill>
                <a:latin typeface="Funnel Sans" pitchFamily="34" charset="0"/>
                <a:ea typeface="Funnel Sans" pitchFamily="34" charset="-122"/>
                <a:cs typeface="Funnel Sans" pitchFamily="34" charset="-120"/>
              </a:rPr>
              <a:t>AI-based methods, including </a:t>
            </a:r>
            <a:r>
              <a:rPr lang="en-US" sz="1550" b="1" dirty="0">
                <a:solidFill>
                  <a:srgbClr val="52586B"/>
                </a:solidFill>
                <a:latin typeface="Funnel Sans" pitchFamily="34" charset="0"/>
                <a:ea typeface="Funnel Sans" pitchFamily="34" charset="-122"/>
                <a:cs typeface="Funnel Sans" pitchFamily="34" charset="-120"/>
              </a:rPr>
              <a:t>Convolutional Neural Networks (CNNs)</a:t>
            </a:r>
            <a:r>
              <a:rPr lang="en-US" sz="1550" dirty="0">
                <a:solidFill>
                  <a:srgbClr val="52586B"/>
                </a:solidFill>
                <a:latin typeface="Funnel Sans" pitchFamily="34" charset="0"/>
                <a:ea typeface="Funnel Sans" pitchFamily="34" charset="-122"/>
                <a:cs typeface="Funnel Sans" pitchFamily="34" charset="-120"/>
              </a:rPr>
              <a:t>, significantly improve precision and recall in identifying land use changes compared to traditional pixel-based methods. These models detect subtle transformations in urban development, deforestation, and agricultural patterns.</a:t>
            </a:r>
            <a:endParaRPr lang="en-US" sz="1550" dirty="0"/>
          </a:p>
        </p:txBody>
      </p:sp>
      <p:sp>
        <p:nvSpPr>
          <p:cNvPr id="9" name="Shape 5"/>
          <p:cNvSpPr/>
          <p:nvPr/>
        </p:nvSpPr>
        <p:spPr>
          <a:xfrm>
            <a:off x="706993" y="5123617"/>
            <a:ext cx="7730014" cy="2545080"/>
          </a:xfrm>
          <a:prstGeom prst="roundRect">
            <a:avLst>
              <a:gd name="adj" fmla="val 3334"/>
            </a:avLst>
          </a:prstGeom>
          <a:solidFill>
            <a:srgbClr val="E2E4E9"/>
          </a:solidFill>
          <a:ln w="7620">
            <a:solidFill>
              <a:srgbClr val="C8CACF"/>
            </a:solidFill>
            <a:prstDash val="solid"/>
          </a:ln>
        </p:spPr>
      </p:sp>
      <p:sp>
        <p:nvSpPr>
          <p:cNvPr id="10" name="Shape 6"/>
          <p:cNvSpPr/>
          <p:nvPr/>
        </p:nvSpPr>
        <p:spPr>
          <a:xfrm>
            <a:off x="916543" y="5333167"/>
            <a:ext cx="606028" cy="606028"/>
          </a:xfrm>
          <a:prstGeom prst="roundRect">
            <a:avLst>
              <a:gd name="adj" fmla="val 15086903"/>
            </a:avLst>
          </a:prstGeom>
          <a:solidFill>
            <a:srgbClr val="373B48"/>
          </a:solidFill>
          <a:ln/>
        </p:spPr>
      </p:sp>
      <p:pic>
        <p:nvPicPr>
          <p:cNvPr id="11"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1083231" y="5499735"/>
            <a:ext cx="272653" cy="272653"/>
          </a:xfrm>
          <a:prstGeom prst="rect">
            <a:avLst/>
          </a:prstGeom>
        </p:spPr>
      </p:pic>
      <p:sp>
        <p:nvSpPr>
          <p:cNvPr id="12" name="Text 7"/>
          <p:cNvSpPr/>
          <p:nvPr/>
        </p:nvSpPr>
        <p:spPr>
          <a:xfrm>
            <a:off x="916543" y="6119098"/>
            <a:ext cx="2970728" cy="315635"/>
          </a:xfrm>
          <a:prstGeom prst="rect">
            <a:avLst/>
          </a:prstGeom>
          <a:noFill/>
          <a:ln/>
        </p:spPr>
        <p:txBody>
          <a:bodyPr wrap="none" lIns="0" tIns="0" rIns="0" bIns="0" rtlCol="0" anchor="t"/>
          <a:lstStyle/>
          <a:p>
            <a:pPr marL="0" indent="0" algn="l">
              <a:lnSpc>
                <a:spcPts val="2450"/>
              </a:lnSpc>
              <a:buNone/>
            </a:pPr>
            <a:r>
              <a:rPr lang="en-US" sz="1950" dirty="0">
                <a:solidFill>
                  <a:srgbClr val="52586B"/>
                </a:solidFill>
                <a:latin typeface="Mona Sans Semi Bold" pitchFamily="34" charset="0"/>
                <a:ea typeface="Mona Sans Semi Bold" pitchFamily="34" charset="-122"/>
                <a:cs typeface="Mona Sans Semi Bold" pitchFamily="34" charset="-120"/>
              </a:rPr>
              <a:t>Phenological Monitoring</a:t>
            </a:r>
            <a:endParaRPr lang="en-US" sz="1950" dirty="0"/>
          </a:p>
        </p:txBody>
      </p:sp>
      <p:sp>
        <p:nvSpPr>
          <p:cNvPr id="13" name="Text 8"/>
          <p:cNvSpPr/>
          <p:nvPr/>
        </p:nvSpPr>
        <p:spPr>
          <a:xfrm>
            <a:off x="916543" y="6542603"/>
            <a:ext cx="7310914" cy="916543"/>
          </a:xfrm>
          <a:prstGeom prst="rect">
            <a:avLst/>
          </a:prstGeom>
          <a:noFill/>
          <a:ln/>
        </p:spPr>
        <p:txBody>
          <a:bodyPr wrap="square" lIns="0" tIns="0" rIns="0" bIns="0" rtlCol="0" anchor="t"/>
          <a:lstStyle/>
          <a:p>
            <a:pPr marL="0" indent="0" algn="l">
              <a:lnSpc>
                <a:spcPts val="2400"/>
              </a:lnSpc>
              <a:buNone/>
            </a:pPr>
            <a:r>
              <a:rPr lang="en-US" sz="1550" dirty="0">
                <a:solidFill>
                  <a:srgbClr val="52586B"/>
                </a:solidFill>
                <a:latin typeface="Funnel Sans" pitchFamily="34" charset="0"/>
                <a:ea typeface="Funnel Sans" pitchFamily="34" charset="-122"/>
                <a:cs typeface="Funnel Sans" pitchFamily="34" charset="-120"/>
              </a:rPr>
              <a:t>Analysing vegetation indices such as NDVI and EVI2 over time to understand land surface phenologies. This temporal analysis proves crucial for agriculture, ecosystem studies, and climate change impact assessment.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3393" y="722590"/>
            <a:ext cx="7730014" cy="1893808"/>
          </a:xfrm>
          <a:prstGeom prst="rect">
            <a:avLst/>
          </a:prstGeom>
          <a:noFill/>
          <a:ln/>
        </p:spPr>
        <p:txBody>
          <a:bodyPr wrap="square" lIns="0" tIns="0" rIns="0" bIns="0" rtlCol="0" anchor="t"/>
          <a:lstStyle/>
          <a:p>
            <a:pPr marL="0" indent="0" algn="l">
              <a:lnSpc>
                <a:spcPts val="4950"/>
              </a:lnSpc>
              <a:buNone/>
            </a:pPr>
            <a:r>
              <a:rPr lang="en-US" sz="3950" dirty="0">
                <a:solidFill>
                  <a:srgbClr val="373B48"/>
                </a:solidFill>
                <a:latin typeface="Mona Sans Semi Bold" pitchFamily="34" charset="0"/>
                <a:ea typeface="Mona Sans Semi Bold" pitchFamily="34" charset="-122"/>
                <a:cs typeface="Mona Sans Semi Bold" pitchFamily="34" charset="-120"/>
              </a:rPr>
              <a:t>Chapter 5: System Design - Architecture for Earth Intelligence</a:t>
            </a:r>
            <a:endParaRPr lang="en-US" sz="3950" dirty="0"/>
          </a:p>
        </p:txBody>
      </p:sp>
      <p:pic>
        <p:nvPicPr>
          <p:cNvPr id="4" name="Image 1" descr="preencoded.png"/>
          <p:cNvPicPr>
            <a:picLocks noChangeAspect="1"/>
          </p:cNvPicPr>
          <p:nvPr/>
        </p:nvPicPr>
        <p:blipFill>
          <a:blip r:embed="rId4"/>
          <a:stretch>
            <a:fillRect/>
          </a:stretch>
        </p:blipFill>
        <p:spPr>
          <a:xfrm>
            <a:off x="6193393" y="2886194"/>
            <a:ext cx="1010007" cy="1743908"/>
          </a:xfrm>
          <a:prstGeom prst="rect">
            <a:avLst/>
          </a:prstGeom>
        </p:spPr>
      </p:pic>
      <p:sp>
        <p:nvSpPr>
          <p:cNvPr id="5" name="Text 1"/>
          <p:cNvSpPr/>
          <p:nvPr/>
        </p:nvSpPr>
        <p:spPr>
          <a:xfrm>
            <a:off x="7383304" y="3088124"/>
            <a:ext cx="2647117" cy="315635"/>
          </a:xfrm>
          <a:prstGeom prst="rect">
            <a:avLst/>
          </a:prstGeom>
          <a:noFill/>
          <a:ln/>
        </p:spPr>
        <p:txBody>
          <a:bodyPr wrap="none" lIns="0" tIns="0" rIns="0" bIns="0" rtlCol="0" anchor="t"/>
          <a:lstStyle/>
          <a:p>
            <a:pPr marL="0" indent="0" algn="l">
              <a:lnSpc>
                <a:spcPts val="2450"/>
              </a:lnSpc>
              <a:buNone/>
            </a:pPr>
            <a:r>
              <a:rPr lang="en-US" sz="1950" dirty="0">
                <a:solidFill>
                  <a:srgbClr val="52586B"/>
                </a:solidFill>
                <a:latin typeface="Mona Sans Semi Bold" pitchFamily="34" charset="0"/>
                <a:ea typeface="Mona Sans Semi Bold" pitchFamily="34" charset="-122"/>
                <a:cs typeface="Mona Sans Semi Bold" pitchFamily="34" charset="-120"/>
              </a:rPr>
              <a:t>Digital Twin Concepts</a:t>
            </a:r>
            <a:endParaRPr lang="en-US" sz="1950" dirty="0"/>
          </a:p>
        </p:txBody>
      </p:sp>
      <p:sp>
        <p:nvSpPr>
          <p:cNvPr id="6" name="Text 2"/>
          <p:cNvSpPr/>
          <p:nvPr/>
        </p:nvSpPr>
        <p:spPr>
          <a:xfrm>
            <a:off x="7383304" y="3511629"/>
            <a:ext cx="6540103" cy="916543"/>
          </a:xfrm>
          <a:prstGeom prst="rect">
            <a:avLst/>
          </a:prstGeom>
          <a:noFill/>
          <a:ln/>
        </p:spPr>
        <p:txBody>
          <a:bodyPr wrap="square" lIns="0" tIns="0" rIns="0" bIns="0" rtlCol="0" anchor="t"/>
          <a:lstStyle/>
          <a:p>
            <a:pPr marL="0" indent="0" algn="l">
              <a:lnSpc>
                <a:spcPts val="2400"/>
              </a:lnSpc>
              <a:buNone/>
            </a:pPr>
            <a:r>
              <a:rPr lang="en-US" sz="1550" dirty="0">
                <a:solidFill>
                  <a:srgbClr val="52586B"/>
                </a:solidFill>
                <a:latin typeface="Funnel Sans" pitchFamily="34" charset="0"/>
                <a:ea typeface="Funnel Sans" pitchFamily="34" charset="-122"/>
                <a:cs typeface="Funnel Sans" pitchFamily="34" charset="-120"/>
              </a:rPr>
              <a:t>Integrating Earth observation data with socio-economic datasets to create virtual representations of real-world systems for informed decision-making.</a:t>
            </a:r>
            <a:endParaRPr lang="en-US" sz="1550" dirty="0"/>
          </a:p>
        </p:txBody>
      </p:sp>
      <p:pic>
        <p:nvPicPr>
          <p:cNvPr id="7" name="Image 2" descr="preencoded.png"/>
          <p:cNvPicPr>
            <a:picLocks noChangeAspect="1"/>
          </p:cNvPicPr>
          <p:nvPr/>
        </p:nvPicPr>
        <p:blipFill>
          <a:blip r:embed="rId5"/>
          <a:stretch>
            <a:fillRect/>
          </a:stretch>
        </p:blipFill>
        <p:spPr>
          <a:xfrm>
            <a:off x="6193393" y="4630103"/>
            <a:ext cx="1010007" cy="1438394"/>
          </a:xfrm>
          <a:prstGeom prst="rect">
            <a:avLst/>
          </a:prstGeom>
        </p:spPr>
      </p:pic>
      <p:sp>
        <p:nvSpPr>
          <p:cNvPr id="8" name="Text 3"/>
          <p:cNvSpPr/>
          <p:nvPr/>
        </p:nvSpPr>
        <p:spPr>
          <a:xfrm>
            <a:off x="7383304" y="4832033"/>
            <a:ext cx="3429357" cy="315635"/>
          </a:xfrm>
          <a:prstGeom prst="rect">
            <a:avLst/>
          </a:prstGeom>
          <a:noFill/>
          <a:ln/>
        </p:spPr>
        <p:txBody>
          <a:bodyPr wrap="none" lIns="0" tIns="0" rIns="0" bIns="0" rtlCol="0" anchor="t"/>
          <a:lstStyle/>
          <a:p>
            <a:pPr marL="0" indent="0" algn="l">
              <a:lnSpc>
                <a:spcPts val="2450"/>
              </a:lnSpc>
              <a:buNone/>
            </a:pPr>
            <a:r>
              <a:rPr lang="en-US" sz="1950" dirty="0">
                <a:solidFill>
                  <a:srgbClr val="52586B"/>
                </a:solidFill>
                <a:latin typeface="Mona Sans Semi Bold" pitchFamily="34" charset="0"/>
                <a:ea typeface="Mona Sans Semi Bold" pitchFamily="34" charset="-122"/>
                <a:cs typeface="Mona Sans Semi Bold" pitchFamily="34" charset="-120"/>
              </a:rPr>
              <a:t>Cloud Computing Platforms</a:t>
            </a:r>
            <a:endParaRPr lang="en-US" sz="1950" dirty="0"/>
          </a:p>
        </p:txBody>
      </p:sp>
      <p:sp>
        <p:nvSpPr>
          <p:cNvPr id="9" name="Text 4"/>
          <p:cNvSpPr/>
          <p:nvPr/>
        </p:nvSpPr>
        <p:spPr>
          <a:xfrm>
            <a:off x="7383304" y="5255538"/>
            <a:ext cx="6540103" cy="611029"/>
          </a:xfrm>
          <a:prstGeom prst="rect">
            <a:avLst/>
          </a:prstGeom>
          <a:noFill/>
          <a:ln/>
        </p:spPr>
        <p:txBody>
          <a:bodyPr wrap="square" lIns="0" tIns="0" rIns="0" bIns="0" rtlCol="0" anchor="t"/>
          <a:lstStyle/>
          <a:p>
            <a:pPr marL="0" indent="0" algn="l">
              <a:lnSpc>
                <a:spcPts val="2400"/>
              </a:lnSpc>
              <a:buNone/>
            </a:pPr>
            <a:r>
              <a:rPr lang="en-US" sz="1550" dirty="0">
                <a:solidFill>
                  <a:srgbClr val="52586B"/>
                </a:solidFill>
                <a:latin typeface="Funnel Sans" pitchFamily="34" charset="0"/>
                <a:ea typeface="Funnel Sans" pitchFamily="34" charset="-122"/>
                <a:cs typeface="Funnel Sans" pitchFamily="34" charset="-120"/>
              </a:rPr>
              <a:t>Utilising platforms like Google Earth Engine for processing large volumes of satellite data efficiently, enabling near-real-time analysis.</a:t>
            </a:r>
            <a:endParaRPr lang="en-US" sz="1550" dirty="0"/>
          </a:p>
        </p:txBody>
      </p:sp>
      <p:pic>
        <p:nvPicPr>
          <p:cNvPr id="10" name="Image 3" descr="preencoded.png"/>
          <p:cNvPicPr>
            <a:picLocks noChangeAspect="1"/>
          </p:cNvPicPr>
          <p:nvPr/>
        </p:nvPicPr>
        <p:blipFill>
          <a:blip r:embed="rId6"/>
          <a:stretch>
            <a:fillRect/>
          </a:stretch>
        </p:blipFill>
        <p:spPr>
          <a:xfrm>
            <a:off x="6193393" y="6068497"/>
            <a:ext cx="1010007" cy="1438394"/>
          </a:xfrm>
          <a:prstGeom prst="rect">
            <a:avLst/>
          </a:prstGeom>
        </p:spPr>
      </p:pic>
      <p:sp>
        <p:nvSpPr>
          <p:cNvPr id="11" name="Text 5"/>
          <p:cNvSpPr/>
          <p:nvPr/>
        </p:nvSpPr>
        <p:spPr>
          <a:xfrm>
            <a:off x="7383304" y="6270427"/>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52586B"/>
                </a:solidFill>
                <a:latin typeface="Mona Sans Semi Bold" pitchFamily="34" charset="0"/>
                <a:ea typeface="Mona Sans Semi Bold" pitchFamily="34" charset="-122"/>
                <a:cs typeface="Mona Sans Semi Bold" pitchFamily="34" charset="-120"/>
              </a:rPr>
              <a:t>LLM Integration</a:t>
            </a:r>
            <a:endParaRPr lang="en-US" sz="1950" dirty="0"/>
          </a:p>
        </p:txBody>
      </p:sp>
      <p:sp>
        <p:nvSpPr>
          <p:cNvPr id="12" name="Text 6"/>
          <p:cNvSpPr/>
          <p:nvPr/>
        </p:nvSpPr>
        <p:spPr>
          <a:xfrm>
            <a:off x="7383304" y="6693932"/>
            <a:ext cx="6540103" cy="611029"/>
          </a:xfrm>
          <a:prstGeom prst="rect">
            <a:avLst/>
          </a:prstGeom>
          <a:noFill/>
          <a:ln/>
        </p:spPr>
        <p:txBody>
          <a:bodyPr wrap="square" lIns="0" tIns="0" rIns="0" bIns="0" rtlCol="0" anchor="t"/>
          <a:lstStyle/>
          <a:p>
            <a:pPr marL="0" indent="0" algn="l">
              <a:lnSpc>
                <a:spcPts val="2400"/>
              </a:lnSpc>
              <a:buNone/>
            </a:pPr>
            <a:r>
              <a:rPr lang="en-US" sz="1550" dirty="0">
                <a:solidFill>
                  <a:srgbClr val="52586B"/>
                </a:solidFill>
                <a:latin typeface="Funnel Sans" pitchFamily="34" charset="0"/>
                <a:ea typeface="Funnel Sans" pitchFamily="34" charset="-122"/>
                <a:cs typeface="Funnel Sans" pitchFamily="34" charset="-120"/>
              </a:rPr>
              <a:t>Designing intelligent systems where LLMs interpret complex geospatial queries and guide the automated analysis of satellite imagery.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935123" y="443627"/>
            <a:ext cx="10559653" cy="487204"/>
          </a:xfrm>
          <a:prstGeom prst="rect">
            <a:avLst/>
          </a:prstGeom>
          <a:noFill/>
          <a:ln/>
        </p:spPr>
        <p:txBody>
          <a:bodyPr wrap="none" lIns="0" tIns="0" rIns="0" bIns="0" rtlCol="0" anchor="t"/>
          <a:lstStyle/>
          <a:p>
            <a:pPr marL="0" indent="0" algn="l">
              <a:lnSpc>
                <a:spcPts val="3800"/>
              </a:lnSpc>
              <a:buNone/>
            </a:pPr>
            <a:r>
              <a:rPr lang="en-US" sz="3050" dirty="0">
                <a:solidFill>
                  <a:srgbClr val="373B48"/>
                </a:solidFill>
                <a:latin typeface="Mona Sans Semi Bold" pitchFamily="34" charset="0"/>
                <a:ea typeface="Mona Sans Semi Bold" pitchFamily="34" charset="-122"/>
                <a:cs typeface="Mona Sans Semi Bold" pitchFamily="34" charset="-120"/>
              </a:rPr>
              <a:t>Chapter 6: Implementation - Bringing GeoIntelli AI to Life</a:t>
            </a:r>
            <a:endParaRPr lang="en-US" sz="3050" dirty="0"/>
          </a:p>
        </p:txBody>
      </p:sp>
      <p:sp>
        <p:nvSpPr>
          <p:cNvPr id="3" name="Text 1"/>
          <p:cNvSpPr/>
          <p:nvPr/>
        </p:nvSpPr>
        <p:spPr>
          <a:xfrm>
            <a:off x="1935123" y="1198721"/>
            <a:ext cx="1949291" cy="243602"/>
          </a:xfrm>
          <a:prstGeom prst="rect">
            <a:avLst/>
          </a:prstGeom>
          <a:noFill/>
          <a:ln/>
        </p:spPr>
        <p:txBody>
          <a:bodyPr wrap="none" lIns="0" tIns="0" rIns="0" bIns="0" rtlCol="0" anchor="t"/>
          <a:lstStyle/>
          <a:p>
            <a:pPr marL="0" indent="0" algn="l">
              <a:lnSpc>
                <a:spcPts val="1900"/>
              </a:lnSpc>
              <a:buNone/>
            </a:pPr>
            <a:r>
              <a:rPr lang="en-US" sz="1500" dirty="0">
                <a:solidFill>
                  <a:srgbClr val="373B48"/>
                </a:solidFill>
                <a:latin typeface="Mona Sans Semi Bold" pitchFamily="34" charset="0"/>
                <a:ea typeface="Mona Sans Semi Bold" pitchFamily="34" charset="-122"/>
                <a:cs typeface="Mona Sans Semi Bold" pitchFamily="34" charset="-120"/>
              </a:rPr>
              <a:t>RapidAI4EO Project</a:t>
            </a:r>
            <a:endParaRPr lang="en-US" sz="1500" dirty="0"/>
          </a:p>
        </p:txBody>
      </p:sp>
      <p:sp>
        <p:nvSpPr>
          <p:cNvPr id="4" name="Text 2"/>
          <p:cNvSpPr/>
          <p:nvPr/>
        </p:nvSpPr>
        <p:spPr>
          <a:xfrm>
            <a:off x="1935123" y="1549479"/>
            <a:ext cx="3518773" cy="1263015"/>
          </a:xfrm>
          <a:prstGeom prst="rect">
            <a:avLst/>
          </a:prstGeom>
          <a:noFill/>
          <a:ln/>
        </p:spPr>
        <p:txBody>
          <a:bodyPr wrap="square" lIns="0" tIns="0" rIns="0" bIns="0" rtlCol="0" anchor="t"/>
          <a:lstStyle/>
          <a:p>
            <a:pPr marL="0" indent="0" algn="l">
              <a:lnSpc>
                <a:spcPts val="1650"/>
              </a:lnSpc>
              <a:buNone/>
            </a:pPr>
            <a:r>
              <a:rPr lang="en-US" sz="1200" dirty="0">
                <a:solidFill>
                  <a:srgbClr val="52586B"/>
                </a:solidFill>
                <a:latin typeface="Funnel Sans" pitchFamily="34" charset="0"/>
                <a:ea typeface="Funnel Sans" pitchFamily="34" charset="-122"/>
                <a:cs typeface="Funnel Sans" pitchFamily="34" charset="-120"/>
              </a:rPr>
              <a:t>Demonstrates fusion of Copernicus data with very high-resolution imagery for intensified land use monitoring at high temporal cadence. This project showcases how AI can process multiple data sources simultaneously, providing continuous monitoring capabilities.</a:t>
            </a:r>
            <a:endParaRPr lang="en-US" sz="1200" dirty="0"/>
          </a:p>
        </p:txBody>
      </p:sp>
      <p:sp>
        <p:nvSpPr>
          <p:cNvPr id="5" name="Shape 3"/>
          <p:cNvSpPr/>
          <p:nvPr/>
        </p:nvSpPr>
        <p:spPr>
          <a:xfrm>
            <a:off x="1935123" y="2933105"/>
            <a:ext cx="3518773" cy="4732258"/>
          </a:xfrm>
          <a:prstGeom prst="roundRect">
            <a:avLst>
              <a:gd name="adj" fmla="val 1861"/>
            </a:avLst>
          </a:prstGeom>
          <a:solidFill>
            <a:srgbClr val="F2F2F2"/>
          </a:solidFill>
          <a:ln/>
        </p:spPr>
      </p:sp>
      <p:sp>
        <p:nvSpPr>
          <p:cNvPr id="6" name="Shape 4"/>
          <p:cNvSpPr/>
          <p:nvPr/>
        </p:nvSpPr>
        <p:spPr>
          <a:xfrm>
            <a:off x="1927384" y="2933105"/>
            <a:ext cx="3534251" cy="4732258"/>
          </a:xfrm>
          <a:prstGeom prst="roundRect">
            <a:avLst>
              <a:gd name="adj" fmla="val 662"/>
            </a:avLst>
          </a:prstGeom>
          <a:solidFill>
            <a:srgbClr val="F2F2F2"/>
          </a:solidFill>
          <a:ln/>
        </p:spPr>
      </p:sp>
      <p:sp>
        <p:nvSpPr>
          <p:cNvPr id="7" name="Text 5"/>
          <p:cNvSpPr/>
          <p:nvPr/>
        </p:nvSpPr>
        <p:spPr>
          <a:xfrm>
            <a:off x="494853" y="3088958"/>
            <a:ext cx="6702014" cy="4420553"/>
          </a:xfrm>
          <a:prstGeom prst="rect">
            <a:avLst/>
          </a:prstGeom>
          <a:noFill/>
          <a:ln/>
        </p:spPr>
        <p:txBody>
          <a:bodyPr wrap="square" lIns="0" tIns="0" rIns="0" bIns="0" rtlCol="0" anchor="t"/>
          <a:lstStyle/>
          <a:p>
            <a:r>
              <a:rPr lang="en-IN" dirty="0"/>
              <a:t>Install required libraries (run once)</a:t>
            </a:r>
          </a:p>
          <a:p>
            <a:r>
              <a:rPr lang="en-IN" dirty="0"/>
              <a:t># pip install </a:t>
            </a:r>
            <a:r>
              <a:rPr lang="en-IN" dirty="0" err="1"/>
              <a:t>rasterio</a:t>
            </a:r>
            <a:r>
              <a:rPr lang="en-IN" dirty="0"/>
              <a:t> matplotlib </a:t>
            </a:r>
            <a:r>
              <a:rPr lang="en-IN" dirty="0" err="1"/>
              <a:t>numpy</a:t>
            </a:r>
            <a:endParaRPr lang="en-IN" dirty="0"/>
          </a:p>
          <a:p>
            <a:r>
              <a:rPr lang="en-IN" dirty="0"/>
              <a:t> </a:t>
            </a:r>
          </a:p>
          <a:p>
            <a:r>
              <a:rPr lang="en-IN" dirty="0"/>
              <a:t>import </a:t>
            </a:r>
            <a:r>
              <a:rPr lang="en-IN" dirty="0" err="1"/>
              <a:t>rasterio</a:t>
            </a:r>
            <a:endParaRPr lang="en-IN" dirty="0"/>
          </a:p>
          <a:p>
            <a:r>
              <a:rPr lang="en-IN" dirty="0"/>
              <a:t>import </a:t>
            </a:r>
            <a:r>
              <a:rPr lang="en-IN" dirty="0" err="1"/>
              <a:t>numpy</a:t>
            </a:r>
            <a:r>
              <a:rPr lang="en-IN" dirty="0"/>
              <a:t> as np</a:t>
            </a:r>
          </a:p>
          <a:p>
            <a:r>
              <a:rPr lang="en-IN" dirty="0"/>
              <a:t>import </a:t>
            </a:r>
            <a:r>
              <a:rPr lang="en-IN" dirty="0" err="1"/>
              <a:t>matplotlib.pyplot</a:t>
            </a:r>
            <a:r>
              <a:rPr lang="en-IN" dirty="0"/>
              <a:t> as </a:t>
            </a:r>
            <a:r>
              <a:rPr lang="en-IN" dirty="0" err="1"/>
              <a:t>plt</a:t>
            </a:r>
            <a:endParaRPr lang="en-IN" dirty="0"/>
          </a:p>
          <a:p>
            <a:r>
              <a:rPr lang="en-IN" dirty="0"/>
              <a:t> </a:t>
            </a:r>
          </a:p>
          <a:p>
            <a:r>
              <a:rPr lang="en-IN" dirty="0"/>
              <a:t># File paths (replace with your actual Landsat 8 band files)</a:t>
            </a:r>
          </a:p>
          <a:p>
            <a:r>
              <a:rPr lang="en-IN" dirty="0"/>
              <a:t># Band 4 = Red, Band 5 = Near Infrared (NIR)</a:t>
            </a:r>
          </a:p>
          <a:p>
            <a:r>
              <a:rPr lang="en-IN" dirty="0"/>
              <a:t># Make sure to upload 'B4.tif' and 'B5.tif' to your </a:t>
            </a:r>
            <a:r>
              <a:rPr lang="en-IN" dirty="0" err="1"/>
              <a:t>Colab</a:t>
            </a:r>
            <a:r>
              <a:rPr lang="en-IN" dirty="0"/>
              <a:t> environment</a:t>
            </a:r>
          </a:p>
          <a:p>
            <a:r>
              <a:rPr lang="en-IN" dirty="0"/>
              <a:t># or provide the full path to their location.</a:t>
            </a:r>
          </a:p>
          <a:p>
            <a:r>
              <a:rPr lang="en-IN" dirty="0" err="1"/>
              <a:t>red_path</a:t>
            </a:r>
            <a:r>
              <a:rPr lang="en-IN" dirty="0"/>
              <a:t> = "/content/B4.tif" # e.g., "/B4.tif"</a:t>
            </a:r>
          </a:p>
          <a:p>
            <a:r>
              <a:rPr lang="en-IN" dirty="0" err="1"/>
              <a:t>nir_path</a:t>
            </a:r>
            <a:r>
              <a:rPr lang="en-IN" dirty="0"/>
              <a:t> = "/content/B5.tif" # e.g., "/B5.tif"</a:t>
            </a:r>
          </a:p>
          <a:p>
            <a:r>
              <a:rPr lang="en-IN" dirty="0"/>
              <a:t> </a:t>
            </a:r>
          </a:p>
          <a:p>
            <a:r>
              <a:rPr lang="en-IN" dirty="0"/>
              <a:t># Read Red band</a:t>
            </a:r>
          </a:p>
          <a:p>
            <a:r>
              <a:rPr lang="en-IN" dirty="0"/>
              <a:t>with </a:t>
            </a:r>
            <a:r>
              <a:rPr lang="en-IN" dirty="0" err="1"/>
              <a:t>rasterio.open</a:t>
            </a:r>
            <a:r>
              <a:rPr lang="en-IN" dirty="0"/>
              <a:t>(</a:t>
            </a:r>
            <a:r>
              <a:rPr lang="en-IN" dirty="0" err="1"/>
              <a:t>red_path</a:t>
            </a:r>
            <a:r>
              <a:rPr lang="en-IN" dirty="0"/>
              <a:t>) as </a:t>
            </a:r>
            <a:r>
              <a:rPr lang="en-IN" dirty="0" err="1"/>
              <a:t>red_src</a:t>
            </a:r>
            <a:r>
              <a:rPr lang="en-IN" dirty="0"/>
              <a:t>:</a:t>
            </a:r>
          </a:p>
          <a:p>
            <a:r>
              <a:rPr lang="en-IN" dirty="0"/>
              <a:t>    red = </a:t>
            </a:r>
            <a:r>
              <a:rPr lang="en-IN" dirty="0" err="1"/>
              <a:t>red_src.read</a:t>
            </a:r>
            <a:r>
              <a:rPr lang="en-IN" dirty="0"/>
              <a:t>(1).</a:t>
            </a:r>
            <a:r>
              <a:rPr lang="en-IN" dirty="0" err="1"/>
              <a:t>astype</a:t>
            </a:r>
            <a:r>
              <a:rPr lang="en-IN" dirty="0"/>
              <a:t>('float32')</a:t>
            </a:r>
          </a:p>
          <a:p>
            <a:r>
              <a:rPr lang="en-IN" dirty="0"/>
              <a:t> </a:t>
            </a:r>
          </a:p>
          <a:p>
            <a:pPr marL="0" indent="0" algn="l">
              <a:lnSpc>
                <a:spcPts val="1650"/>
              </a:lnSpc>
              <a:buNone/>
            </a:pPr>
            <a:endParaRPr lang="en-US" sz="1200" dirty="0"/>
          </a:p>
        </p:txBody>
      </p:sp>
      <p:sp>
        <p:nvSpPr>
          <p:cNvPr id="8" name="Text 6"/>
          <p:cNvSpPr/>
          <p:nvPr/>
        </p:nvSpPr>
        <p:spPr>
          <a:xfrm>
            <a:off x="5841802" y="1936671"/>
            <a:ext cx="3025378" cy="243602"/>
          </a:xfrm>
          <a:prstGeom prst="rect">
            <a:avLst/>
          </a:prstGeom>
          <a:noFill/>
          <a:ln/>
        </p:spPr>
        <p:txBody>
          <a:bodyPr wrap="none" lIns="0" tIns="0" rIns="0" bIns="0" rtlCol="0" anchor="t"/>
          <a:lstStyle/>
          <a:p>
            <a:pPr marL="0" indent="0" algn="l">
              <a:lnSpc>
                <a:spcPts val="1900"/>
              </a:lnSpc>
              <a:buNone/>
            </a:pPr>
            <a:r>
              <a:rPr lang="en-US" sz="1500" dirty="0">
                <a:solidFill>
                  <a:srgbClr val="373B48"/>
                </a:solidFill>
                <a:latin typeface="Mona Sans Semi Bold" pitchFamily="34" charset="0"/>
                <a:ea typeface="Mona Sans Semi Bold" pitchFamily="34" charset="-122"/>
                <a:cs typeface="Mona Sans Semi Bold" pitchFamily="34" charset="-120"/>
              </a:rPr>
              <a:t>Fit-for-Purpose Geospatial Data</a:t>
            </a:r>
            <a:endParaRPr lang="en-US" sz="1500" dirty="0"/>
          </a:p>
        </p:txBody>
      </p:sp>
      <p:sp>
        <p:nvSpPr>
          <p:cNvPr id="9" name="Text 7"/>
          <p:cNvSpPr/>
          <p:nvPr/>
        </p:nvSpPr>
        <p:spPr>
          <a:xfrm>
            <a:off x="5841802" y="2287429"/>
            <a:ext cx="6860858" cy="631507"/>
          </a:xfrm>
          <a:prstGeom prst="rect">
            <a:avLst/>
          </a:prstGeom>
          <a:noFill/>
          <a:ln/>
        </p:spPr>
        <p:txBody>
          <a:bodyPr wrap="square" lIns="0" tIns="0" rIns="0" bIns="0" rtlCol="0" anchor="t"/>
          <a:lstStyle/>
          <a:p>
            <a:pPr marL="0" indent="0" algn="l">
              <a:lnSpc>
                <a:spcPts val="1650"/>
              </a:lnSpc>
              <a:buNone/>
            </a:pPr>
            <a:r>
              <a:rPr lang="en-US" sz="1200" dirty="0">
                <a:solidFill>
                  <a:srgbClr val="52586B"/>
                </a:solidFill>
                <a:latin typeface="Funnel Sans" pitchFamily="34" charset="0"/>
                <a:ea typeface="Funnel Sans" pitchFamily="34" charset="-122"/>
                <a:cs typeface="Funnel Sans" pitchFamily="34" charset="-120"/>
              </a:rPr>
              <a:t>Emphasising data that is authoritative and trusted for its intended use, especially with AI innovations. This ensures reliability in critical applications such as environmental monitoring and urban planning.</a:t>
            </a:r>
            <a:endParaRPr lang="en-US" sz="1200" dirty="0"/>
          </a:p>
        </p:txBody>
      </p:sp>
      <p:sp>
        <p:nvSpPr>
          <p:cNvPr id="11" name="TextBox 10">
            <a:extLst>
              <a:ext uri="{FF2B5EF4-FFF2-40B4-BE49-F238E27FC236}">
                <a16:creationId xmlns:a16="http://schemas.microsoft.com/office/drawing/2014/main" id="{814D9CB8-8950-4677-80AB-7AECC180894B}"/>
              </a:ext>
            </a:extLst>
          </p:cNvPr>
          <p:cNvSpPr txBox="1"/>
          <p:nvPr/>
        </p:nvSpPr>
        <p:spPr>
          <a:xfrm>
            <a:off x="7594899" y="3088958"/>
            <a:ext cx="4899877" cy="4801314"/>
          </a:xfrm>
          <a:prstGeom prst="rect">
            <a:avLst/>
          </a:prstGeom>
          <a:noFill/>
        </p:spPr>
        <p:txBody>
          <a:bodyPr wrap="square" rtlCol="0">
            <a:spAutoFit/>
          </a:bodyPr>
          <a:lstStyle/>
          <a:p>
            <a:r>
              <a:rPr lang="en-IN"/>
              <a:t># Read NIR band</a:t>
            </a:r>
          </a:p>
          <a:p>
            <a:r>
              <a:rPr lang="en-IN"/>
              <a:t>with rasterio.open(nir_path) as nir_src:</a:t>
            </a:r>
          </a:p>
          <a:p>
            <a:r>
              <a:rPr lang="en-IN"/>
              <a:t>    nir = nir_src.read(1).astype('float32')</a:t>
            </a:r>
          </a:p>
          <a:p>
            <a:r>
              <a:rPr lang="en-IN"/>
              <a:t> </a:t>
            </a:r>
          </a:p>
          <a:p>
            <a:r>
              <a:rPr lang="en-IN"/>
              <a:t># Avoid division by zero</a:t>
            </a:r>
          </a:p>
          <a:p>
            <a:r>
              <a:rPr lang="en-IN"/>
              <a:t>np.seterr(divide='ignore', invalid='ignore')</a:t>
            </a:r>
          </a:p>
          <a:p>
            <a:r>
              <a:rPr lang="en-IN"/>
              <a:t> </a:t>
            </a:r>
          </a:p>
          <a:p>
            <a:r>
              <a:rPr lang="en-IN"/>
              <a:t># NDVI Formula</a:t>
            </a:r>
          </a:p>
          <a:p>
            <a:r>
              <a:rPr lang="en-IN"/>
              <a:t>ndvi = (nir - red) / (nir + red)</a:t>
            </a:r>
          </a:p>
          <a:p>
            <a:r>
              <a:rPr lang="en-IN"/>
              <a:t> </a:t>
            </a:r>
          </a:p>
          <a:p>
            <a:r>
              <a:rPr lang="en-IN"/>
              <a:t># Plot NDVI</a:t>
            </a:r>
          </a:p>
          <a:p>
            <a:r>
              <a:rPr lang="en-IN"/>
              <a:t>plt.figure(figsize=(8,6))</a:t>
            </a:r>
          </a:p>
          <a:p>
            <a:r>
              <a:rPr lang="en-IN"/>
              <a:t>plt.imshow(ndvi, cmap='RdYlGn')</a:t>
            </a:r>
          </a:p>
          <a:p>
            <a:r>
              <a:rPr lang="en-IN"/>
              <a:t>plt.colorbar(label='NDVI values')</a:t>
            </a:r>
          </a:p>
          <a:p>
            <a:r>
              <a:rPr lang="en-IN"/>
              <a:t>plt.title('NDVI Map (Landsat 8)')</a:t>
            </a:r>
          </a:p>
          <a:p>
            <a:r>
              <a:rPr lang="en-IN"/>
              <a:t>plt.axis('off')</a:t>
            </a:r>
          </a:p>
          <a:p>
            <a:r>
              <a:rPr lang="en-IN"/>
              <a:t>plt.show()</a:t>
            </a:r>
            <a:endParaRPr lang="en-IN" dirty="0"/>
          </a:p>
        </p:txBody>
      </p:sp>
      <p:cxnSp>
        <p:nvCxnSpPr>
          <p:cNvPr id="13" name="Straight Connector 12">
            <a:extLst>
              <a:ext uri="{FF2B5EF4-FFF2-40B4-BE49-F238E27FC236}">
                <a16:creationId xmlns:a16="http://schemas.microsoft.com/office/drawing/2014/main" id="{C09769F2-A9C1-4CE5-9085-BF439128ACD2}"/>
              </a:ext>
            </a:extLst>
          </p:cNvPr>
          <p:cNvCxnSpPr/>
          <p:nvPr/>
        </p:nvCxnSpPr>
        <p:spPr>
          <a:xfrm>
            <a:off x="7444292" y="2933105"/>
            <a:ext cx="0" cy="529649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156246" y="1019532"/>
            <a:ext cx="7804309" cy="1196102"/>
          </a:xfrm>
          <a:prstGeom prst="rect">
            <a:avLst/>
          </a:prstGeom>
          <a:noFill/>
          <a:ln/>
        </p:spPr>
        <p:txBody>
          <a:bodyPr wrap="square" lIns="0" tIns="0" rIns="0" bIns="0" rtlCol="0" anchor="t"/>
          <a:lstStyle/>
          <a:p>
            <a:pPr marL="0" indent="0" algn="l">
              <a:lnSpc>
                <a:spcPts val="4700"/>
              </a:lnSpc>
              <a:buNone/>
            </a:pPr>
            <a:r>
              <a:rPr lang="en-US" sz="3750" dirty="0">
                <a:solidFill>
                  <a:srgbClr val="373B48"/>
                </a:solidFill>
                <a:latin typeface="Mona Sans Semi Bold" pitchFamily="34" charset="0"/>
                <a:ea typeface="Mona Sans Semi Bold" pitchFamily="34" charset="-122"/>
                <a:cs typeface="Mona Sans Semi Bold" pitchFamily="34" charset="-120"/>
              </a:rPr>
              <a:t>Chapter 7: Results &amp; Discussion - The Power of LLM-Driven Analysis</a:t>
            </a:r>
            <a:endParaRPr lang="en-US" sz="3750" dirty="0"/>
          </a:p>
        </p:txBody>
      </p:sp>
      <p:sp>
        <p:nvSpPr>
          <p:cNvPr id="4" name="Shape 1"/>
          <p:cNvSpPr/>
          <p:nvPr/>
        </p:nvSpPr>
        <p:spPr>
          <a:xfrm>
            <a:off x="6156246" y="2457807"/>
            <a:ext cx="7804309" cy="1640205"/>
          </a:xfrm>
          <a:prstGeom prst="roundRect">
            <a:avLst>
              <a:gd name="adj" fmla="val 4901"/>
            </a:avLst>
          </a:prstGeom>
          <a:solidFill>
            <a:srgbClr val="E2E4E9"/>
          </a:solidFill>
          <a:ln w="7620">
            <a:solidFill>
              <a:srgbClr val="C8CACF"/>
            </a:solidFill>
            <a:prstDash val="solid"/>
          </a:ln>
        </p:spPr>
      </p:sp>
      <p:sp>
        <p:nvSpPr>
          <p:cNvPr id="5" name="Text 2"/>
          <p:cNvSpPr/>
          <p:nvPr/>
        </p:nvSpPr>
        <p:spPr>
          <a:xfrm>
            <a:off x="6355199" y="2656761"/>
            <a:ext cx="3971092" cy="298966"/>
          </a:xfrm>
          <a:prstGeom prst="rect">
            <a:avLst/>
          </a:prstGeom>
          <a:noFill/>
          <a:ln/>
        </p:spPr>
        <p:txBody>
          <a:bodyPr wrap="none" lIns="0" tIns="0" rIns="0" bIns="0" rtlCol="0" anchor="t"/>
          <a:lstStyle/>
          <a:p>
            <a:pPr marL="0" indent="0" algn="l">
              <a:lnSpc>
                <a:spcPts val="2350"/>
              </a:lnSpc>
              <a:buNone/>
            </a:pPr>
            <a:r>
              <a:rPr lang="en-US" sz="1850" dirty="0">
                <a:solidFill>
                  <a:srgbClr val="52586B"/>
                </a:solidFill>
                <a:latin typeface="Mona Sans Semi Bold" pitchFamily="34" charset="0"/>
                <a:ea typeface="Mona Sans Semi Bold" pitchFamily="34" charset="-122"/>
                <a:cs typeface="Mona Sans Semi Bold" pitchFamily="34" charset="-120"/>
              </a:rPr>
              <a:t>Enhanced Land Potential Mapping</a:t>
            </a:r>
            <a:endParaRPr lang="en-US" sz="1850" dirty="0"/>
          </a:p>
        </p:txBody>
      </p:sp>
      <p:sp>
        <p:nvSpPr>
          <p:cNvPr id="6" name="Text 3"/>
          <p:cNvSpPr/>
          <p:nvPr/>
        </p:nvSpPr>
        <p:spPr>
          <a:xfrm>
            <a:off x="6355199" y="3052524"/>
            <a:ext cx="7406402" cy="846534"/>
          </a:xfrm>
          <a:prstGeom prst="rect">
            <a:avLst/>
          </a:prstGeom>
          <a:noFill/>
          <a:ln/>
        </p:spPr>
        <p:txBody>
          <a:bodyPr wrap="square" lIns="0" tIns="0" rIns="0" bIns="0" rtlCol="0" anchor="t"/>
          <a:lstStyle/>
          <a:p>
            <a:pPr marL="0" indent="0" algn="l">
              <a:lnSpc>
                <a:spcPts val="2200"/>
              </a:lnSpc>
              <a:buNone/>
            </a:pPr>
            <a:r>
              <a:rPr lang="en-US" sz="1500" dirty="0">
                <a:solidFill>
                  <a:srgbClr val="52586B"/>
                </a:solidFill>
                <a:latin typeface="Funnel Sans" pitchFamily="34" charset="0"/>
                <a:ea typeface="Funnel Sans" pitchFamily="34" charset="-122"/>
                <a:cs typeface="Funnel Sans" pitchFamily="34" charset="-120"/>
              </a:rPr>
              <a:t>Geo-intelligence aids in optimising land use planning, revealing shifts in growing periods and land potential under climate change scenarios. This enables proactive adaptation strategies.</a:t>
            </a:r>
            <a:endParaRPr lang="en-US" sz="1500" dirty="0"/>
          </a:p>
        </p:txBody>
      </p:sp>
      <p:sp>
        <p:nvSpPr>
          <p:cNvPr id="7" name="Shape 4"/>
          <p:cNvSpPr/>
          <p:nvPr/>
        </p:nvSpPr>
        <p:spPr>
          <a:xfrm>
            <a:off x="6156246" y="4259461"/>
            <a:ext cx="7804309" cy="1640205"/>
          </a:xfrm>
          <a:prstGeom prst="roundRect">
            <a:avLst>
              <a:gd name="adj" fmla="val 4901"/>
            </a:avLst>
          </a:prstGeom>
          <a:solidFill>
            <a:srgbClr val="E2E4E9"/>
          </a:solidFill>
          <a:ln w="7620">
            <a:solidFill>
              <a:srgbClr val="C8CACF"/>
            </a:solidFill>
            <a:prstDash val="solid"/>
          </a:ln>
        </p:spPr>
      </p:sp>
      <p:sp>
        <p:nvSpPr>
          <p:cNvPr id="8" name="Text 5"/>
          <p:cNvSpPr/>
          <p:nvPr/>
        </p:nvSpPr>
        <p:spPr>
          <a:xfrm>
            <a:off x="6355199" y="4458414"/>
            <a:ext cx="2595443" cy="298966"/>
          </a:xfrm>
          <a:prstGeom prst="rect">
            <a:avLst/>
          </a:prstGeom>
          <a:noFill/>
          <a:ln/>
        </p:spPr>
        <p:txBody>
          <a:bodyPr wrap="none" lIns="0" tIns="0" rIns="0" bIns="0" rtlCol="0" anchor="t"/>
          <a:lstStyle/>
          <a:p>
            <a:pPr marL="0" indent="0" algn="l">
              <a:lnSpc>
                <a:spcPts val="2350"/>
              </a:lnSpc>
              <a:buNone/>
            </a:pPr>
            <a:r>
              <a:rPr lang="en-US" sz="1850" dirty="0">
                <a:solidFill>
                  <a:srgbClr val="52586B"/>
                </a:solidFill>
                <a:latin typeface="Mona Sans Semi Bold" pitchFamily="34" charset="0"/>
                <a:ea typeface="Mona Sans Semi Bold" pitchFamily="34" charset="-122"/>
                <a:cs typeface="Mona Sans Semi Bold" pitchFamily="34" charset="-120"/>
              </a:rPr>
              <a:t>Predictive Capabilities</a:t>
            </a:r>
            <a:endParaRPr lang="en-US" sz="1850" dirty="0"/>
          </a:p>
        </p:txBody>
      </p:sp>
      <p:sp>
        <p:nvSpPr>
          <p:cNvPr id="9" name="Text 6"/>
          <p:cNvSpPr/>
          <p:nvPr/>
        </p:nvSpPr>
        <p:spPr>
          <a:xfrm>
            <a:off x="6355199" y="4854178"/>
            <a:ext cx="7406402" cy="846534"/>
          </a:xfrm>
          <a:prstGeom prst="rect">
            <a:avLst/>
          </a:prstGeom>
          <a:noFill/>
          <a:ln/>
        </p:spPr>
        <p:txBody>
          <a:bodyPr wrap="square" lIns="0" tIns="0" rIns="0" bIns="0" rtlCol="0" anchor="t"/>
          <a:lstStyle/>
          <a:p>
            <a:pPr marL="0" indent="0" algn="l">
              <a:lnSpc>
                <a:spcPts val="2200"/>
              </a:lnSpc>
              <a:buNone/>
            </a:pPr>
            <a:r>
              <a:rPr lang="en-US" sz="1500" dirty="0">
                <a:solidFill>
                  <a:srgbClr val="52586B"/>
                </a:solidFill>
                <a:latin typeface="Funnel Sans" pitchFamily="34" charset="0"/>
                <a:ea typeface="Funnel Sans" pitchFamily="34" charset="-122"/>
                <a:cs typeface="Funnel Sans" pitchFamily="34" charset="-120"/>
              </a:rPr>
              <a:t>Harnessing the predictive power of information, with knowledge doubling at an exponential rate, enhanced by AI. Models can forecast vegetation patterns, urban expansion, and environmental changes.</a:t>
            </a:r>
            <a:endParaRPr lang="en-US" sz="1500" dirty="0"/>
          </a:p>
        </p:txBody>
      </p:sp>
      <p:sp>
        <p:nvSpPr>
          <p:cNvPr id="10" name="Text 7"/>
          <p:cNvSpPr/>
          <p:nvPr/>
        </p:nvSpPr>
        <p:spPr>
          <a:xfrm>
            <a:off x="6156246" y="6081236"/>
            <a:ext cx="7804309" cy="1128713"/>
          </a:xfrm>
          <a:prstGeom prst="rect">
            <a:avLst/>
          </a:prstGeom>
          <a:noFill/>
          <a:ln/>
        </p:spPr>
        <p:txBody>
          <a:bodyPr wrap="square" lIns="0" tIns="0" rIns="0" bIns="0" rtlCol="0" anchor="t"/>
          <a:lstStyle/>
          <a:p>
            <a:pPr marL="0" indent="0" algn="l">
              <a:lnSpc>
                <a:spcPts val="2200"/>
              </a:lnSpc>
              <a:buNone/>
            </a:pPr>
            <a:r>
              <a:rPr lang="en-US" sz="1500" dirty="0">
                <a:solidFill>
                  <a:srgbClr val="52586B"/>
                </a:solidFill>
                <a:latin typeface="Funnel Sans" pitchFamily="34" charset="0"/>
                <a:ea typeface="Funnel Sans" pitchFamily="34" charset="-122"/>
                <a:cs typeface="Funnel Sans" pitchFamily="34" charset="-120"/>
              </a:rPr>
              <a:t>LLM-driven analysis transforms satellite data from static snapshots into dynamic intelligence, enabling stakeholders to anticipate changes rather than merely react to them. The integration of natural language processing with geospatial analysis creates an intuitive interface for non-specialist users, democratising access to Earth observation insights.</a:t>
            </a:r>
            <a:endParaRPr lang="en-US" sz="1500" dirty="0"/>
          </a:p>
        </p:txBody>
      </p:sp>
      <p:pic>
        <p:nvPicPr>
          <p:cNvPr id="11" name="Picture 10">
            <a:extLst>
              <a:ext uri="{FF2B5EF4-FFF2-40B4-BE49-F238E27FC236}">
                <a16:creationId xmlns:a16="http://schemas.microsoft.com/office/drawing/2014/main" id="{87193646-F209-47AF-B173-E6CC731F5061}"/>
              </a:ext>
            </a:extLst>
          </p:cNvPr>
          <p:cNvPicPr/>
          <p:nvPr/>
        </p:nvPicPr>
        <p:blipFill>
          <a:blip r:embed="rId3"/>
          <a:stretch>
            <a:fillRect/>
          </a:stretch>
        </p:blipFill>
        <p:spPr>
          <a:xfrm>
            <a:off x="199645" y="92612"/>
            <a:ext cx="5878425" cy="4766945"/>
          </a:xfrm>
          <a:prstGeom prst="rect">
            <a:avLst/>
          </a:prstGeom>
        </p:spPr>
      </p:pic>
      <p:sp>
        <p:nvSpPr>
          <p:cNvPr id="15" name="Rectangle 3">
            <a:extLst>
              <a:ext uri="{FF2B5EF4-FFF2-40B4-BE49-F238E27FC236}">
                <a16:creationId xmlns:a16="http://schemas.microsoft.com/office/drawing/2014/main" id="{B3A0E218-A3AA-4BE1-8B1A-83233ED98765}"/>
              </a:ext>
            </a:extLst>
          </p:cNvPr>
          <p:cNvSpPr>
            <a:spLocks noChangeArrowheads="1"/>
          </p:cNvSpPr>
          <p:nvPr/>
        </p:nvSpPr>
        <p:spPr bwMode="auto">
          <a:xfrm>
            <a:off x="505608" y="4822016"/>
            <a:ext cx="4991549"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NDVI Heatmap</a:t>
            </a: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US" altLang="en-US" sz="9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Green → Healthy vegetation </a:t>
            </a:r>
            <a:endParaRPr kumimoji="0" lang="en-US" altLang="en-US" sz="10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Yellow → Moderate </a:t>
            </a:r>
            <a:endParaRPr kumimoji="0" lang="en-US" altLang="en-US" sz="10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Red → Low vegetation </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2.Classification Map</a:t>
            </a: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US" altLang="en-US" sz="9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 → Water </a:t>
            </a:r>
            <a:endParaRPr kumimoji="0" lang="en-US" altLang="en-US" sz="10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 → Barren </a:t>
            </a:r>
            <a:endParaRPr kumimoji="0" lang="en-US" altLang="en-US" sz="10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 → Moderate vegetation </a:t>
            </a:r>
            <a:endParaRPr kumimoji="0" lang="en-US" altLang="en-US" sz="10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3 → Dense vegetation </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3.Console Output</a:t>
            </a: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Bands loaded successfully!</a:t>
            </a:r>
            <a:b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br>
            <a: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NDVI calculated!</a:t>
            </a:r>
            <a:b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br>
            <a: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Land classification completed!</a:t>
            </a:r>
            <a:b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br>
            <a:b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br>
            <a: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NDVI Statistics:</a:t>
            </a:r>
            <a:b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br>
            <a: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Minimum NDVI: -0.3</a:t>
            </a:r>
            <a:b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br>
            <a: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Maximum NDVI: 0.8</a:t>
            </a:r>
            <a:b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br>
            <a:r>
              <a:rPr kumimoji="0" lang="en-US" altLang="en-US" sz="11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Mean NDVI: 0.35</a:t>
            </a:r>
            <a:r>
              <a:rPr kumimoji="0" lang="en-US" altLang="en-US" sz="9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2228" y="606981"/>
            <a:ext cx="13248561" cy="609124"/>
          </a:xfrm>
          <a:prstGeom prst="rect">
            <a:avLst/>
          </a:prstGeom>
          <a:noFill/>
          <a:ln/>
        </p:spPr>
        <p:txBody>
          <a:bodyPr wrap="none" lIns="0" tIns="0" rIns="0" bIns="0" rtlCol="0" anchor="t"/>
          <a:lstStyle/>
          <a:p>
            <a:pPr marL="0" indent="0" algn="l">
              <a:lnSpc>
                <a:spcPts val="4750"/>
              </a:lnSpc>
              <a:buNone/>
            </a:pPr>
            <a:r>
              <a:rPr lang="en-US" sz="3800" dirty="0">
                <a:solidFill>
                  <a:srgbClr val="373B48"/>
                </a:solidFill>
                <a:latin typeface="Mona Sans Semi Bold" pitchFamily="34" charset="0"/>
                <a:ea typeface="Mona Sans Semi Bold" pitchFamily="34" charset="-122"/>
                <a:cs typeface="Mona Sans Semi Bold" pitchFamily="34" charset="-120"/>
              </a:rPr>
              <a:t>Chapter 8: Conclusion &amp; Future Scope - The Road Ahead</a:t>
            </a:r>
            <a:endParaRPr lang="en-US" sz="3800" dirty="0"/>
          </a:p>
        </p:txBody>
      </p:sp>
      <p:pic>
        <p:nvPicPr>
          <p:cNvPr id="3" name="Image 0" descr="preencoded.png"/>
          <p:cNvPicPr>
            <a:picLocks noChangeAspect="1"/>
          </p:cNvPicPr>
          <p:nvPr/>
        </p:nvPicPr>
        <p:blipFill>
          <a:blip r:embed="rId3"/>
          <a:stretch>
            <a:fillRect/>
          </a:stretch>
        </p:blipFill>
        <p:spPr>
          <a:xfrm>
            <a:off x="682228" y="1655683"/>
            <a:ext cx="4333875" cy="5778460"/>
          </a:xfrm>
          <a:prstGeom prst="rect">
            <a:avLst/>
          </a:prstGeom>
        </p:spPr>
      </p:pic>
      <p:sp>
        <p:nvSpPr>
          <p:cNvPr id="4" name="Text 1"/>
          <p:cNvSpPr/>
          <p:nvPr/>
        </p:nvSpPr>
        <p:spPr>
          <a:xfrm>
            <a:off x="5499259" y="2941082"/>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373B48"/>
                </a:solidFill>
                <a:latin typeface="Mona Sans Semi Bold" pitchFamily="34" charset="0"/>
                <a:ea typeface="Mona Sans Semi Bold" pitchFamily="34" charset="-122"/>
                <a:cs typeface="Mona Sans Semi Bold" pitchFamily="34" charset="-120"/>
              </a:rPr>
              <a:t>Conclusion</a:t>
            </a:r>
            <a:endParaRPr lang="en-US" sz="1900" dirty="0"/>
          </a:p>
        </p:txBody>
      </p:sp>
      <p:sp>
        <p:nvSpPr>
          <p:cNvPr id="5" name="Text 2"/>
          <p:cNvSpPr/>
          <p:nvPr/>
        </p:nvSpPr>
        <p:spPr>
          <a:xfrm>
            <a:off x="5499259" y="3413046"/>
            <a:ext cx="8456414" cy="869752"/>
          </a:xfrm>
          <a:prstGeom prst="rect">
            <a:avLst/>
          </a:prstGeom>
          <a:noFill/>
          <a:ln/>
        </p:spPr>
        <p:txBody>
          <a:bodyPr wrap="square" lIns="0" tIns="0" rIns="0" bIns="0" rtlCol="0" anchor="t"/>
          <a:lstStyle/>
          <a:p>
            <a:pPr marL="0" indent="0" algn="l">
              <a:lnSpc>
                <a:spcPts val="2250"/>
              </a:lnSpc>
              <a:buNone/>
            </a:pPr>
            <a:r>
              <a:rPr lang="en-US" sz="1500" dirty="0">
                <a:solidFill>
                  <a:srgbClr val="52586B"/>
                </a:solidFill>
                <a:latin typeface="Funnel Sans" pitchFamily="34" charset="0"/>
                <a:ea typeface="Funnel Sans" pitchFamily="34" charset="-122"/>
                <a:cs typeface="Funnel Sans" pitchFamily="34" charset="-120"/>
              </a:rPr>
              <a:t>GeoIntelli AI represents a significant leap in leveraging LLMs for detailed analysis of Landsat 8 data, enabling more informed decisions for environmental management and sustainable development.</a:t>
            </a:r>
            <a:endParaRPr lang="en-US" sz="1500" dirty="0"/>
          </a:p>
        </p:txBody>
      </p:sp>
      <p:sp>
        <p:nvSpPr>
          <p:cNvPr id="6" name="Text 3"/>
          <p:cNvSpPr/>
          <p:nvPr/>
        </p:nvSpPr>
        <p:spPr>
          <a:xfrm>
            <a:off x="5499259" y="4450199"/>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373B48"/>
                </a:solidFill>
                <a:latin typeface="Mona Sans Semi Bold" pitchFamily="34" charset="0"/>
                <a:ea typeface="Mona Sans Semi Bold" pitchFamily="34" charset="-122"/>
                <a:cs typeface="Mona Sans Semi Bold" pitchFamily="34" charset="-120"/>
              </a:rPr>
              <a:t>Future Scope</a:t>
            </a:r>
            <a:endParaRPr lang="en-US" sz="1900" dirty="0"/>
          </a:p>
        </p:txBody>
      </p:sp>
      <p:sp>
        <p:nvSpPr>
          <p:cNvPr id="7" name="Text 4"/>
          <p:cNvSpPr/>
          <p:nvPr/>
        </p:nvSpPr>
        <p:spPr>
          <a:xfrm>
            <a:off x="5499259" y="4922163"/>
            <a:ext cx="8456414" cy="1335405"/>
          </a:xfrm>
          <a:prstGeom prst="rect">
            <a:avLst/>
          </a:prstGeom>
          <a:noFill/>
          <a:ln/>
        </p:spPr>
        <p:txBody>
          <a:bodyPr wrap="square" lIns="0" tIns="0" rIns="0" bIns="0" rtlCol="0" anchor="t"/>
          <a:lstStyle/>
          <a:p>
            <a:pPr marL="342900" indent="-342900" algn="l">
              <a:lnSpc>
                <a:spcPts val="2250"/>
              </a:lnSpc>
              <a:buSzPct val="100000"/>
              <a:buChar char="•"/>
            </a:pPr>
            <a:r>
              <a:rPr lang="en-US" sz="1500" dirty="0">
                <a:solidFill>
                  <a:srgbClr val="52586B"/>
                </a:solidFill>
                <a:latin typeface="Funnel Sans" pitchFamily="34" charset="0"/>
                <a:ea typeface="Funnel Sans" pitchFamily="34" charset="-122"/>
                <a:cs typeface="Funnel Sans" pitchFamily="34" charset="-120"/>
              </a:rPr>
              <a:t>Expanding LLM capabilities to interpret diverse geospatial data sources</a:t>
            </a:r>
            <a:endParaRPr lang="en-US" sz="1500" dirty="0"/>
          </a:p>
          <a:p>
            <a:pPr marL="342900" indent="-342900" algn="l">
              <a:lnSpc>
                <a:spcPts val="2250"/>
              </a:lnSpc>
              <a:buSzPct val="100000"/>
              <a:buChar char="•"/>
            </a:pPr>
            <a:r>
              <a:rPr lang="en-US" sz="1500" dirty="0">
                <a:solidFill>
                  <a:srgbClr val="52586B"/>
                </a:solidFill>
                <a:latin typeface="Funnel Sans" pitchFamily="34" charset="0"/>
                <a:ea typeface="Funnel Sans" pitchFamily="34" charset="-122"/>
                <a:cs typeface="Funnel Sans" pitchFamily="34" charset="-120"/>
              </a:rPr>
              <a:t>Developing more sophisticated digital twins with real-time sensor integration</a:t>
            </a:r>
            <a:endParaRPr lang="en-US" sz="1500" dirty="0"/>
          </a:p>
          <a:p>
            <a:pPr marL="342900" indent="-342900" algn="l">
              <a:lnSpc>
                <a:spcPts val="2250"/>
              </a:lnSpc>
              <a:buSzPct val="100000"/>
              <a:buChar char="•"/>
            </a:pPr>
            <a:r>
              <a:rPr lang="en-US" sz="1500" dirty="0">
                <a:solidFill>
                  <a:srgbClr val="52586B"/>
                </a:solidFill>
                <a:latin typeface="Funnel Sans" pitchFamily="34" charset="0"/>
                <a:ea typeface="Funnel Sans" pitchFamily="34" charset="-122"/>
                <a:cs typeface="Funnel Sans" pitchFamily="34" charset="-120"/>
              </a:rPr>
              <a:t>Integrating citizen science observations for ground-truth validation</a:t>
            </a:r>
            <a:endParaRPr lang="en-US" sz="1500" dirty="0"/>
          </a:p>
          <a:p>
            <a:pPr marL="342900" indent="-342900" algn="l">
              <a:lnSpc>
                <a:spcPts val="2250"/>
              </a:lnSpc>
              <a:buSzPct val="100000"/>
              <a:buChar char="•"/>
            </a:pPr>
            <a:r>
              <a:rPr lang="en-US" sz="1500" dirty="0">
                <a:solidFill>
                  <a:srgbClr val="52586B"/>
                </a:solidFill>
                <a:latin typeface="Funnel Sans" pitchFamily="34" charset="0"/>
                <a:ea typeface="Funnel Sans" pitchFamily="34" charset="-122"/>
                <a:cs typeface="Funnel Sans" pitchFamily="34" charset="-120"/>
              </a:rPr>
              <a:t>Creating multilingual interfaces for global accessibility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18979" y="614005"/>
            <a:ext cx="7878842" cy="1129427"/>
          </a:xfrm>
          <a:prstGeom prst="rect">
            <a:avLst/>
          </a:prstGeom>
          <a:noFill/>
          <a:ln/>
        </p:spPr>
        <p:txBody>
          <a:bodyPr wrap="square" lIns="0" tIns="0" rIns="0" bIns="0" rtlCol="0" anchor="t"/>
          <a:lstStyle/>
          <a:p>
            <a:pPr marL="0" indent="0" algn="l">
              <a:lnSpc>
                <a:spcPts val="4400"/>
              </a:lnSpc>
              <a:buNone/>
            </a:pPr>
            <a:r>
              <a:rPr lang="en-US" sz="3550" dirty="0">
                <a:solidFill>
                  <a:srgbClr val="373B48"/>
                </a:solidFill>
                <a:latin typeface="Mona Sans Semi Bold" pitchFamily="34" charset="0"/>
                <a:ea typeface="Mona Sans Semi Bold" pitchFamily="34" charset="-122"/>
                <a:cs typeface="Mona Sans Semi Bold" pitchFamily="34" charset="-120"/>
              </a:rPr>
              <a:t>Chapter 10: Social Impact - Intelligence for a Sustainable Future</a:t>
            </a:r>
            <a:endParaRPr lang="en-US" sz="355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18979" y="1959412"/>
            <a:ext cx="451842" cy="451842"/>
          </a:xfrm>
          <a:prstGeom prst="rect">
            <a:avLst/>
          </a:prstGeom>
        </p:spPr>
      </p:pic>
      <p:sp>
        <p:nvSpPr>
          <p:cNvPr id="5" name="Text 1"/>
          <p:cNvSpPr/>
          <p:nvPr/>
        </p:nvSpPr>
        <p:spPr>
          <a:xfrm>
            <a:off x="6118979" y="2591276"/>
            <a:ext cx="3062049" cy="282416"/>
          </a:xfrm>
          <a:prstGeom prst="rect">
            <a:avLst/>
          </a:prstGeom>
          <a:noFill/>
          <a:ln/>
        </p:spPr>
        <p:txBody>
          <a:bodyPr wrap="none" lIns="0" tIns="0" rIns="0" bIns="0" rtlCol="0" anchor="t"/>
          <a:lstStyle/>
          <a:p>
            <a:pPr marL="0" indent="0" algn="l">
              <a:lnSpc>
                <a:spcPts val="2200"/>
              </a:lnSpc>
              <a:buNone/>
            </a:pPr>
            <a:r>
              <a:rPr lang="en-US" sz="1750" dirty="0">
                <a:solidFill>
                  <a:srgbClr val="52586B"/>
                </a:solidFill>
                <a:latin typeface="Mona Sans Semi Bold" pitchFamily="34" charset="0"/>
                <a:ea typeface="Mona Sans Semi Bold" pitchFamily="34" charset="-122"/>
                <a:cs typeface="Mona Sans Semi Bold" pitchFamily="34" charset="-120"/>
              </a:rPr>
              <a:t>Resilient Land-Use Planning</a:t>
            </a:r>
            <a:endParaRPr lang="en-US" sz="1750" dirty="0"/>
          </a:p>
        </p:txBody>
      </p:sp>
      <p:sp>
        <p:nvSpPr>
          <p:cNvPr id="6" name="Text 2"/>
          <p:cNvSpPr/>
          <p:nvPr/>
        </p:nvSpPr>
        <p:spPr>
          <a:xfrm>
            <a:off x="6118979" y="2960013"/>
            <a:ext cx="7878842" cy="779383"/>
          </a:xfrm>
          <a:prstGeom prst="rect">
            <a:avLst/>
          </a:prstGeom>
          <a:noFill/>
          <a:ln/>
        </p:spPr>
        <p:txBody>
          <a:bodyPr wrap="square" lIns="0" tIns="0" rIns="0" bIns="0" rtlCol="0" anchor="t"/>
          <a:lstStyle/>
          <a:p>
            <a:pPr marL="0" indent="0" algn="l">
              <a:lnSpc>
                <a:spcPts val="2000"/>
              </a:lnSpc>
              <a:buNone/>
            </a:pPr>
            <a:r>
              <a:rPr lang="en-US" sz="1400" dirty="0">
                <a:solidFill>
                  <a:srgbClr val="52586B"/>
                </a:solidFill>
                <a:latin typeface="Funnel Sans" pitchFamily="34" charset="0"/>
                <a:ea typeface="Funnel Sans" pitchFamily="34" charset="-122"/>
                <a:cs typeface="Funnel Sans" pitchFamily="34" charset="-120"/>
              </a:rPr>
              <a:t>Geo-intelligence directly supports sustainable agriculture and climate adaptation strategies, helping farmers and policymakers optimise resource allocation and prepare for environmental changes.</a:t>
            </a:r>
            <a:endParaRPr lang="en-US" sz="1400" dirty="0"/>
          </a:p>
        </p:txBody>
      </p:sp>
      <p:pic>
        <p:nvPicPr>
          <p:cNvPr id="7"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6118979" y="4027408"/>
            <a:ext cx="451842" cy="451842"/>
          </a:xfrm>
          <a:prstGeom prst="rect">
            <a:avLst/>
          </a:prstGeom>
        </p:spPr>
      </p:pic>
      <p:sp>
        <p:nvSpPr>
          <p:cNvPr id="8" name="Text 3"/>
          <p:cNvSpPr/>
          <p:nvPr/>
        </p:nvSpPr>
        <p:spPr>
          <a:xfrm>
            <a:off x="6118979" y="4659273"/>
            <a:ext cx="2482929" cy="282416"/>
          </a:xfrm>
          <a:prstGeom prst="rect">
            <a:avLst/>
          </a:prstGeom>
          <a:noFill/>
          <a:ln/>
        </p:spPr>
        <p:txBody>
          <a:bodyPr wrap="none" lIns="0" tIns="0" rIns="0" bIns="0" rtlCol="0" anchor="t"/>
          <a:lstStyle/>
          <a:p>
            <a:pPr marL="0" indent="0" algn="l">
              <a:lnSpc>
                <a:spcPts val="2200"/>
              </a:lnSpc>
              <a:buNone/>
            </a:pPr>
            <a:r>
              <a:rPr lang="en-US" sz="1750" dirty="0">
                <a:solidFill>
                  <a:srgbClr val="52586B"/>
                </a:solidFill>
                <a:latin typeface="Mona Sans Semi Bold" pitchFamily="34" charset="0"/>
                <a:ea typeface="Mona Sans Semi Bold" pitchFamily="34" charset="-122"/>
                <a:cs typeface="Mona Sans Semi Bold" pitchFamily="34" charset="-120"/>
              </a:rPr>
              <a:t>Evidence-Based Policy</a:t>
            </a:r>
            <a:endParaRPr lang="en-US" sz="1750" dirty="0"/>
          </a:p>
        </p:txBody>
      </p:sp>
      <p:sp>
        <p:nvSpPr>
          <p:cNvPr id="9" name="Text 4"/>
          <p:cNvSpPr/>
          <p:nvPr/>
        </p:nvSpPr>
        <p:spPr>
          <a:xfrm>
            <a:off x="6118979" y="5028009"/>
            <a:ext cx="7878842" cy="519589"/>
          </a:xfrm>
          <a:prstGeom prst="rect">
            <a:avLst/>
          </a:prstGeom>
          <a:noFill/>
          <a:ln/>
        </p:spPr>
        <p:txBody>
          <a:bodyPr wrap="square" lIns="0" tIns="0" rIns="0" bIns="0" rtlCol="0" anchor="t"/>
          <a:lstStyle/>
          <a:p>
            <a:pPr marL="0" indent="0" algn="l">
              <a:lnSpc>
                <a:spcPts val="2000"/>
              </a:lnSpc>
              <a:buNone/>
            </a:pPr>
            <a:r>
              <a:rPr lang="en-US" sz="1400" dirty="0">
                <a:solidFill>
                  <a:srgbClr val="52586B"/>
                </a:solidFill>
                <a:latin typeface="Funnel Sans" pitchFamily="34" charset="0"/>
                <a:ea typeface="Funnel Sans" pitchFamily="34" charset="-122"/>
                <a:cs typeface="Funnel Sans" pitchFamily="34" charset="-120"/>
              </a:rPr>
              <a:t>Providing crucial data for monitoring Sustainable Development Goals and informing policy on critical issues such as deforestation, urban sprawl, and soil consumption.</a:t>
            </a:r>
            <a:endParaRPr lang="en-US" sz="1400" dirty="0"/>
          </a:p>
        </p:txBody>
      </p:sp>
      <p:pic>
        <p:nvPicPr>
          <p:cNvPr id="10"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6118979" y="5835610"/>
            <a:ext cx="451842" cy="451842"/>
          </a:xfrm>
          <a:prstGeom prst="rect">
            <a:avLst/>
          </a:prstGeom>
        </p:spPr>
      </p:pic>
      <p:sp>
        <p:nvSpPr>
          <p:cNvPr id="11" name="Text 5"/>
          <p:cNvSpPr/>
          <p:nvPr/>
        </p:nvSpPr>
        <p:spPr>
          <a:xfrm>
            <a:off x="6118979" y="6467475"/>
            <a:ext cx="2583061" cy="282416"/>
          </a:xfrm>
          <a:prstGeom prst="rect">
            <a:avLst/>
          </a:prstGeom>
          <a:noFill/>
          <a:ln/>
        </p:spPr>
        <p:txBody>
          <a:bodyPr wrap="none" lIns="0" tIns="0" rIns="0" bIns="0" rtlCol="0" anchor="t"/>
          <a:lstStyle/>
          <a:p>
            <a:pPr marL="0" indent="0" algn="l">
              <a:lnSpc>
                <a:spcPts val="2200"/>
              </a:lnSpc>
              <a:buNone/>
            </a:pPr>
            <a:r>
              <a:rPr lang="en-US" sz="1750" dirty="0">
                <a:solidFill>
                  <a:srgbClr val="52586B"/>
                </a:solidFill>
                <a:latin typeface="Mona Sans Semi Bold" pitchFamily="34" charset="0"/>
                <a:ea typeface="Mona Sans Semi Bold" pitchFamily="34" charset="-122"/>
                <a:cs typeface="Mona Sans Semi Bold" pitchFamily="34" charset="-120"/>
              </a:rPr>
              <a:t>Earth Intelligence for All</a:t>
            </a:r>
            <a:endParaRPr lang="en-US" sz="1750" dirty="0"/>
          </a:p>
        </p:txBody>
      </p:sp>
      <p:sp>
        <p:nvSpPr>
          <p:cNvPr id="12" name="Text 6"/>
          <p:cNvSpPr/>
          <p:nvPr/>
        </p:nvSpPr>
        <p:spPr>
          <a:xfrm>
            <a:off x="6118979" y="6836212"/>
            <a:ext cx="7878842" cy="779383"/>
          </a:xfrm>
          <a:prstGeom prst="rect">
            <a:avLst/>
          </a:prstGeom>
          <a:noFill/>
          <a:ln/>
        </p:spPr>
        <p:txBody>
          <a:bodyPr wrap="square" lIns="0" tIns="0" rIns="0" bIns="0" rtlCol="0" anchor="t"/>
          <a:lstStyle/>
          <a:p>
            <a:pPr marL="0" indent="0" algn="l">
              <a:lnSpc>
                <a:spcPts val="2000"/>
              </a:lnSpc>
              <a:buNone/>
            </a:pPr>
            <a:r>
              <a:rPr lang="en-US" sz="1400" dirty="0">
                <a:solidFill>
                  <a:srgbClr val="52586B"/>
                </a:solidFill>
                <a:latin typeface="Funnel Sans" pitchFamily="34" charset="0"/>
                <a:ea typeface="Funnel Sans" pitchFamily="34" charset="-122"/>
                <a:cs typeface="Funnel Sans" pitchFamily="34" charset="-120"/>
              </a:rPr>
              <a:t>The ultimate goal is to empower society to address environmental, societal, and economic challenges through accessible, integrated knowledge. Democratizing geospatial intelligence ensures that decision-makers at all levels can leverage satellite data for sustainable development.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1243</Words>
  <Application>Microsoft Office PowerPoint</Application>
  <PresentationFormat>Custom</PresentationFormat>
  <Paragraphs>118</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Calibri</vt:lpstr>
      <vt:lpstr>Arial</vt:lpstr>
      <vt:lpstr>Funnel Sans</vt:lpstr>
      <vt:lpstr>Mona Sans Semi Bold</vt:lpstr>
      <vt:lpstr>Arial Unicode MS</vt:lpstr>
      <vt:lpstr>SimSun</vt:lpstr>
      <vt:lpstr>Times New Roman</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Sadavika Reddy</dc:creator>
  <cp:lastModifiedBy>Sadavika Reddy</cp:lastModifiedBy>
  <cp:revision>2</cp:revision>
  <dcterms:created xsi:type="dcterms:W3CDTF">2026-04-10T08:33:25Z</dcterms:created>
  <dcterms:modified xsi:type="dcterms:W3CDTF">2026-04-10T08:42:28Z</dcterms:modified>
</cp:coreProperties>
</file>